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8" r:id="rId5"/>
    <p:sldId id="260" r:id="rId6"/>
    <p:sldId id="261" r:id="rId7"/>
    <p:sldId id="262" r:id="rId8"/>
    <p:sldId id="263" r:id="rId9"/>
    <p:sldId id="267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/>
    <p:restoredTop sz="94658"/>
  </p:normalViewPr>
  <p:slideViewPr>
    <p:cSldViewPr snapToGrid="0">
      <p:cViewPr varScale="1">
        <p:scale>
          <a:sx n="99" d="100"/>
          <a:sy n="99" d="100"/>
        </p:scale>
        <p:origin x="208" y="632"/>
      </p:cViewPr>
      <p:guideLst/>
    </p:cSldViewPr>
  </p:slideViewPr>
  <p:notesTextViewPr>
    <p:cViewPr>
      <p:scale>
        <a:sx n="170" d="100"/>
        <a:sy n="17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808FFA2-4AAA-4686-AAC6-95110DCF1A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88B4B305-0202-4198-8879-6DF7DF1BA19A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47625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BD820043-A7B4-45BF-8E79-F4F21B586AE3}"/>
              </a:ext>
            </a:extLst>
          </p:cNvPr>
          <p:cNvSpPr>
            <a:spLocks noGrp="1"/>
          </p:cNvSpPr>
          <p:nvPr/>
        </p:nvSpPr>
        <p:spPr>
          <a:xfrm>
            <a:off x="704850" y="4762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17A"/>
                </a:solidFill>
                <a:latin typeface="Aptos"/>
                <a:ea typeface="Aptos"/>
                <a:cs typeface="Aptos"/>
              </a:rPr>
              <a:t>PRACTICAL THEORY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C8611-B13C-4B68-AE97-C735AC0287E6}"/>
              </a:ext>
            </a:extLst>
          </p:cNvPr>
          <p:cNvSpPr>
            <a:spLocks noGrp="1"/>
          </p:cNvSpPr>
          <p:nvPr/>
        </p:nvSpPr>
        <p:spPr>
          <a:xfrm>
            <a:off x="552450" y="1104900"/>
            <a:ext cx="8048625" cy="1314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SPSS first steps: describe variables, then describe apparent associations.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874EB1-EAC2-4731-871C-3B539BF7F4F5}"/>
              </a:ext>
            </a:extLst>
          </p:cNvPr>
          <p:cNvSpPr>
            <a:spLocks noGrp="1"/>
          </p:cNvSpPr>
          <p:nvPr/>
        </p:nvSpPr>
        <p:spPr>
          <a:xfrm>
            <a:off x="571500" y="2647950"/>
            <a:ext cx="7429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Theory deck for Worksheet 1: NHANES 1999-2003, descriptive statistics, crosstabs, risk measures, scatterplots, covariance, Pearson, and Spearman.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0FB57F-2B9C-47B9-9407-D1DD75E35835}"/>
              </a:ext>
            </a:extLst>
          </p:cNvPr>
          <p:cNvSpPr>
            <a:spLocks noGrp="1"/>
          </p:cNvSpPr>
          <p:nvPr/>
        </p:nvSpPr>
        <p:spPr>
          <a:xfrm>
            <a:off x="8743950" y="876300"/>
            <a:ext cx="2362200" cy="38481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92EF2C-D015-4A78-9827-29AE13F1AE8D}"/>
              </a:ext>
            </a:extLst>
          </p:cNvPr>
          <p:cNvSpPr>
            <a:spLocks noGrp="1"/>
          </p:cNvSpPr>
          <p:nvPr/>
        </p:nvSpPr>
        <p:spPr>
          <a:xfrm>
            <a:off x="9010650" y="12001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BD8D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BD8D1"/>
                </a:solidFill>
                <a:latin typeface="Aptos"/>
                <a:ea typeface="Aptos"/>
                <a:cs typeface="Aptos"/>
              </a:rPr>
              <a:t>Core rule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E7F55A-2C0B-4676-91A6-274C2431E82D}"/>
              </a:ext>
            </a:extLst>
          </p:cNvPr>
          <p:cNvSpPr>
            <a:spLocks noGrp="1"/>
          </p:cNvSpPr>
          <p:nvPr/>
        </p:nvSpPr>
        <p:spPr>
          <a:xfrm>
            <a:off x="9010650" y="1600200"/>
            <a:ext cx="165735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measurement level decides the graph, summary, and association measure.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309107-15EA-4CD4-A3FE-3F4275E02C4F}"/>
              </a:ext>
            </a:extLst>
          </p:cNvPr>
          <p:cNvSpPr>
            <a:spLocks noGrp="1"/>
          </p:cNvSpPr>
          <p:nvPr/>
        </p:nvSpPr>
        <p:spPr>
          <a:xfrm>
            <a:off x="9010650" y="3581400"/>
            <a:ext cx="1657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D9E2D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9E2DF"/>
                </a:solidFill>
                <a:latin typeface="Aptos"/>
                <a:ea typeface="Aptos"/>
                <a:cs typeface="Aptos"/>
              </a:rPr>
              <a:t>In a cross-sectional study, describe associations carefully. Do not turn them into causal conclusions.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3084CB-7F66-41E7-BEEB-C29D374FB70C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15811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F65FC4-3B4E-4E7B-9C9F-0CA79075D373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419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AA1701-B202-43F0-8899-1F38FD675310}"/>
              </a:ext>
            </a:extLst>
          </p:cNvPr>
          <p:cNvSpPr>
            <a:spLocks noGrp="1"/>
          </p:cNvSpPr>
          <p:nvPr/>
        </p:nvSpPr>
        <p:spPr>
          <a:xfrm>
            <a:off x="1066800" y="52197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9CA990-E8ED-449A-95DD-46A4AF830D51}"/>
              </a:ext>
            </a:extLst>
          </p:cNvPr>
          <p:cNvSpPr>
            <a:spLocks noGrp="1"/>
          </p:cNvSpPr>
          <p:nvPr/>
        </p:nvSpPr>
        <p:spPr>
          <a:xfrm>
            <a:off x="1066800" y="54673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Variable view, coding, units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D50845-AD54-4D82-A02F-7F3F42EF5EDD}"/>
              </a:ext>
            </a:extLst>
          </p:cNvPr>
          <p:cNvSpPr>
            <a:spLocks noGrp="1"/>
          </p:cNvSpPr>
          <p:nvPr/>
        </p:nvSpPr>
        <p:spPr>
          <a:xfrm>
            <a:off x="2609850" y="5048250"/>
            <a:ext cx="1581150" cy="285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23C60B-FD9B-4A30-8E58-C33A2C3B257A}"/>
              </a:ext>
            </a:extLst>
          </p:cNvPr>
          <p:cNvSpPr>
            <a:spLocks noGrp="1"/>
          </p:cNvSpPr>
          <p:nvPr/>
        </p:nvSpPr>
        <p:spPr>
          <a:xfrm>
            <a:off x="2609850" y="5219700"/>
            <a:ext cx="419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52C3DE-71A9-4379-B99A-2C6FF42C9C04}"/>
              </a:ext>
            </a:extLst>
          </p:cNvPr>
          <p:cNvSpPr>
            <a:spLocks noGrp="1"/>
          </p:cNvSpPr>
          <p:nvPr/>
        </p:nvSpPr>
        <p:spPr>
          <a:xfrm>
            <a:off x="3105150" y="52197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Classify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EB7D09-6846-4201-905E-F3EAFB57A1C1}"/>
              </a:ext>
            </a:extLst>
          </p:cNvPr>
          <p:cNvSpPr>
            <a:spLocks noGrp="1"/>
          </p:cNvSpPr>
          <p:nvPr/>
        </p:nvSpPr>
        <p:spPr>
          <a:xfrm>
            <a:off x="3105150" y="54673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Nominal, ordinal, metric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F0BDF8-764F-4AF7-8A5F-1AFB01A027F9}"/>
              </a:ext>
            </a:extLst>
          </p:cNvPr>
          <p:cNvSpPr>
            <a:spLocks noGrp="1"/>
          </p:cNvSpPr>
          <p:nvPr/>
        </p:nvSpPr>
        <p:spPr>
          <a:xfrm>
            <a:off x="4648200" y="5048250"/>
            <a:ext cx="15811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907933-F896-4EDD-9C89-61A7BF2F1F29}"/>
              </a:ext>
            </a:extLst>
          </p:cNvPr>
          <p:cNvSpPr>
            <a:spLocks noGrp="1"/>
          </p:cNvSpPr>
          <p:nvPr/>
        </p:nvSpPr>
        <p:spPr>
          <a:xfrm>
            <a:off x="4648200" y="5219700"/>
            <a:ext cx="419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88C64-E824-42F4-8D39-236D93B3A305}"/>
              </a:ext>
            </a:extLst>
          </p:cNvPr>
          <p:cNvSpPr>
            <a:spLocks noGrp="1"/>
          </p:cNvSpPr>
          <p:nvPr/>
        </p:nvSpPr>
        <p:spPr>
          <a:xfrm>
            <a:off x="5143500" y="52197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Plot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EB9E23-C6FD-4052-9166-918D468C9FF3}"/>
              </a:ext>
            </a:extLst>
          </p:cNvPr>
          <p:cNvSpPr>
            <a:spLocks noGrp="1"/>
          </p:cNvSpPr>
          <p:nvPr/>
        </p:nvSpPr>
        <p:spPr>
          <a:xfrm>
            <a:off x="5143500" y="54673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Match graph to variable type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0B5ADC-F2D5-47B2-BF9B-4C0EC706F600}"/>
              </a:ext>
            </a:extLst>
          </p:cNvPr>
          <p:cNvSpPr>
            <a:spLocks noGrp="1"/>
          </p:cNvSpPr>
          <p:nvPr/>
        </p:nvSpPr>
        <p:spPr>
          <a:xfrm>
            <a:off x="6686550" y="5048250"/>
            <a:ext cx="1581150" cy="28575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1203B8-8E8F-4A03-A867-8FA03C24BB08}"/>
              </a:ext>
            </a:extLst>
          </p:cNvPr>
          <p:cNvSpPr>
            <a:spLocks noGrp="1"/>
          </p:cNvSpPr>
          <p:nvPr/>
        </p:nvSpPr>
        <p:spPr>
          <a:xfrm>
            <a:off x="6686550" y="5219700"/>
            <a:ext cx="419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901BE5-A136-4D97-8235-8641C7948F6B}"/>
              </a:ext>
            </a:extLst>
          </p:cNvPr>
          <p:cNvSpPr>
            <a:spLocks noGrp="1"/>
          </p:cNvSpPr>
          <p:nvPr/>
        </p:nvSpPr>
        <p:spPr>
          <a:xfrm>
            <a:off x="7181850" y="52197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5389F68-7A04-4676-9A5D-BD2BE57F36FB}"/>
              </a:ext>
            </a:extLst>
          </p:cNvPr>
          <p:cNvSpPr>
            <a:spLocks noGrp="1"/>
          </p:cNvSpPr>
          <p:nvPr/>
        </p:nvSpPr>
        <p:spPr>
          <a:xfrm>
            <a:off x="7181850" y="5467350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Use crosstabs or correlations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3B25910-90C5-435F-A493-02C4F769814E}"/>
              </a:ext>
            </a:extLst>
          </p:cNvPr>
          <p:cNvSpPr>
            <a:spLocks noGrp="1"/>
          </p:cNvSpPr>
          <p:nvPr/>
        </p:nvSpPr>
        <p:spPr>
          <a:xfrm>
            <a:off x="571500" y="3467100"/>
            <a:ext cx="3143250" cy="266700"/>
          </a:xfrm>
          <a:prstGeom prst="rect">
            <a:avLst/>
          </a:prstGeom>
          <a:solidFill>
            <a:srgbClr val="F2E6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E15B97-6F7F-43B6-8FB7-7093367EBB46}"/>
              </a:ext>
            </a:extLst>
          </p:cNvPr>
          <p:cNvSpPr>
            <a:spLocks noGrp="1"/>
          </p:cNvSpPr>
          <p:nvPr/>
        </p:nvSpPr>
        <p:spPr>
          <a:xfrm>
            <a:off x="685800" y="3514725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Worksheet objective: choose, compute, interpret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11241F-75A8-4EE2-9096-992321B7DD73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110871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6C974D-2DC4-4543-9B0A-1636FFCA9BF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800" b="0" dirty="0">
                <a:solidFill>
                  <a:srgbClr val="64717A"/>
                </a:solidFill>
                <a:latin typeface="Aptos"/>
                <a:ea typeface="Aptos"/>
                <a:cs typeface="Aptos"/>
              </a:rPr>
              <a:t>Source: worksheet 1, Practical QB Scientific Work; NHANES 1999-2003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190539-3018-4C5C-BBF7-74A3F03D335D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330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1D5185D-CB76-4E3C-AD8F-C987AAB3BE3C}"/>
              </a:ext>
            </a:extLst>
          </p:cNvPr>
          <p:cNvSpPr>
            <a:spLocks noGrp="1"/>
          </p:cNvSpPr>
          <p:nvPr/>
        </p:nvSpPr>
        <p:spPr>
          <a:xfrm>
            <a:off x="7974" y="-11254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4C25F9-A894-6CC1-87BD-27ECD5B9DA4A}"/>
              </a:ext>
            </a:extLst>
          </p:cNvPr>
          <p:cNvSpPr>
            <a:spLocks noGrp="1"/>
          </p:cNvSpPr>
          <p:nvPr/>
        </p:nvSpPr>
        <p:spPr>
          <a:xfrm>
            <a:off x="7002868" y="3394887"/>
            <a:ext cx="1562100" cy="45719"/>
          </a:xfrm>
          <a:prstGeom prst="rect">
            <a:avLst/>
          </a:prstGeom>
          <a:solidFill>
            <a:srgbClr val="64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1F34FB08-C90A-416E-B99E-07243080318E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47625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8D6C309A-7341-453F-97DE-C2030EAF407A}"/>
              </a:ext>
            </a:extLst>
          </p:cNvPr>
          <p:cNvSpPr>
            <a:spLocks noGrp="1"/>
          </p:cNvSpPr>
          <p:nvPr/>
        </p:nvSpPr>
        <p:spPr>
          <a:xfrm>
            <a:off x="704850" y="4762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17A"/>
                </a:solidFill>
                <a:latin typeface="Aptos"/>
                <a:ea typeface="Aptos"/>
                <a:cs typeface="Aptos"/>
              </a:rPr>
              <a:t>STUDY FRAME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75FE6-72DC-4789-8BD8-B876C0D55E2E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8763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NHANES describes population health, so interpretation starts with study design.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D22118-8A61-4BCE-83BB-B781B1593179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2476500" cy="2552700"/>
          </a:xfrm>
          <a:prstGeom prst="rect">
            <a:avLst/>
          </a:prstGeom>
          <a:solidFill>
            <a:srgbClr val="DCED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5015A1-94C7-4B31-A229-4048330E00D8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NHANES 1999-2003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AD8C0-D670-40BF-AEB0-D2BC261DC3A0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19240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National Health and Nutrition Examination Survey</a:t>
            </a:r>
          </a:p>
          <a:p>
            <a:endParaRPr sz="1050" b="0">
              <a:solidFill>
                <a:srgbClr val="17212B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Cross-sectional random sample used to describe health status in the United States.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4A1A8C-6F2F-44F3-AD35-33BCD55D708E}"/>
              </a:ext>
            </a:extLst>
          </p:cNvPr>
          <p:cNvSpPr>
            <a:spLocks noGrp="1"/>
          </p:cNvSpPr>
          <p:nvPr/>
        </p:nvSpPr>
        <p:spPr>
          <a:xfrm>
            <a:off x="3143250" y="3458682"/>
            <a:ext cx="1562100" cy="45719"/>
          </a:xfrm>
          <a:prstGeom prst="rect">
            <a:avLst/>
          </a:prstGeom>
          <a:solidFill>
            <a:srgbClr val="64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A6E9EC-829D-47EA-B8B5-8BE7F342501C}"/>
              </a:ext>
            </a:extLst>
          </p:cNvPr>
          <p:cNvSpPr>
            <a:spLocks noGrp="1"/>
          </p:cNvSpPr>
          <p:nvPr/>
        </p:nvSpPr>
        <p:spPr>
          <a:xfrm>
            <a:off x="4705350" y="2647950"/>
            <a:ext cx="24765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0501BE-8551-4FC0-8299-BB34BA350865}"/>
              </a:ext>
            </a:extLst>
          </p:cNvPr>
          <p:cNvSpPr>
            <a:spLocks noGrp="1"/>
          </p:cNvSpPr>
          <p:nvPr/>
        </p:nvSpPr>
        <p:spPr>
          <a:xfrm>
            <a:off x="4933950" y="29337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Restricted population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6ED6F2-253D-427A-924B-0CC3EA8E3930}"/>
              </a:ext>
            </a:extLst>
          </p:cNvPr>
          <p:cNvSpPr>
            <a:spLocks noGrp="1"/>
          </p:cNvSpPr>
          <p:nvPr/>
        </p:nvSpPr>
        <p:spPr>
          <a:xfrm>
            <a:off x="4933950" y="3371850"/>
            <a:ext cx="18669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Worksheet analysis uses people aged 30-85 years.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323773-B166-4859-A6A0-744712C36CC7}"/>
              </a:ext>
            </a:extLst>
          </p:cNvPr>
          <p:cNvSpPr>
            <a:spLocks noGrp="1"/>
          </p:cNvSpPr>
          <p:nvPr/>
        </p:nvSpPr>
        <p:spPr>
          <a:xfrm>
            <a:off x="8248650" y="2000250"/>
            <a:ext cx="2781300" cy="2895600"/>
          </a:xfrm>
          <a:prstGeom prst="rect">
            <a:avLst/>
          </a:prstGeom>
          <a:solidFill>
            <a:srgbClr val="F8DD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6D0C30-1E86-484E-9C84-B0FC25B1E789}"/>
              </a:ext>
            </a:extLst>
          </p:cNvPr>
          <p:cNvSpPr>
            <a:spLocks noGrp="1"/>
          </p:cNvSpPr>
          <p:nvPr/>
        </p:nvSpPr>
        <p:spPr>
          <a:xfrm>
            <a:off x="8515350" y="2324100"/>
            <a:ext cx="2133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125" b="1" dirty="0">
                <a:solidFill>
                  <a:srgbClr val="E76F51"/>
                </a:solidFill>
                <a:latin typeface="Aptos"/>
                <a:ea typeface="Aptos"/>
                <a:cs typeface="Aptos"/>
              </a:rPr>
              <a:t>Important </a:t>
            </a:r>
            <a:r>
              <a:rPr lang="es-ES" sz="1125" b="1" dirty="0">
                <a:solidFill>
                  <a:srgbClr val="E76F51"/>
                </a:solidFill>
                <a:latin typeface="Aptos"/>
                <a:ea typeface="Aptos"/>
                <a:cs typeface="Aptos"/>
              </a:rPr>
              <a:t>!!</a:t>
            </a:r>
            <a:endParaRPr sz="1125" b="1" dirty="0">
              <a:solidFill>
                <a:srgbClr val="E76F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BC1B42-7989-44E9-9324-44E31F023A30}"/>
              </a:ext>
            </a:extLst>
          </p:cNvPr>
          <p:cNvSpPr>
            <a:spLocks noGrp="1"/>
          </p:cNvSpPr>
          <p:nvPr/>
        </p:nvSpPr>
        <p:spPr>
          <a:xfrm>
            <a:off x="8515350" y="2800350"/>
            <a:ext cx="21145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The practical asks for descriptive associations.</a:t>
            </a:r>
          </a:p>
          <a:p>
            <a:endParaRPr sz="1425" b="1">
              <a:solidFill>
                <a:srgbClr val="17212B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14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You can say variables are associated in this dataset; you cannot infer that diabetes causes periodontitis or weight causes height.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E90A38-4B89-4B5A-8A34-074329BF0D99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Oral health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869650-FB5B-4D44-B0B1-FC6E0ED09630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nteeth, cal_mean, perio, perio2, bop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8AA340-3A6C-4DB3-9524-D6FBB8DE94F3}"/>
              </a:ext>
            </a:extLst>
          </p:cNvPr>
          <p:cNvSpPr>
            <a:spLocks noGrp="1"/>
          </p:cNvSpPr>
          <p:nvPr/>
        </p:nvSpPr>
        <p:spPr>
          <a:xfrm>
            <a:off x="3067050" y="5257800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Demographics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D52758-0E17-4DAB-98FE-FF9B3412B013}"/>
              </a:ext>
            </a:extLst>
          </p:cNvPr>
          <p:cNvSpPr>
            <a:spLocks noGrp="1"/>
          </p:cNvSpPr>
          <p:nvPr/>
        </p:nvSpPr>
        <p:spPr>
          <a:xfrm>
            <a:off x="3067050" y="542925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male, age, edu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8C8F46-E6EF-4531-9BB2-F30E5702853B}"/>
              </a:ext>
            </a:extLst>
          </p:cNvPr>
          <p:cNvSpPr>
            <a:spLocks noGrp="1"/>
          </p:cNvSpPr>
          <p:nvPr/>
        </p:nvSpPr>
        <p:spPr>
          <a:xfrm>
            <a:off x="5448300" y="5257800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Lifestyle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7CE324-F6BA-4C0B-BD40-91F294FD8543}"/>
              </a:ext>
            </a:extLst>
          </p:cNvPr>
          <p:cNvSpPr>
            <a:spLocks noGrp="1"/>
          </p:cNvSpPr>
          <p:nvPr/>
        </p:nvSpPr>
        <p:spPr>
          <a:xfrm>
            <a:off x="5448300" y="542925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smk, smk2, alcg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C08130-D28A-4C67-806F-7499D7C8C929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Body measures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5E7C12-194D-426E-9976-E44F3829BF52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Height, Weight, bmi, wc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B7E634-C371-482F-B687-0D35CE8A05BF}"/>
              </a:ext>
            </a:extLst>
          </p:cNvPr>
          <p:cNvSpPr>
            <a:spLocks noGrp="1"/>
          </p:cNvSpPr>
          <p:nvPr/>
        </p:nvSpPr>
        <p:spPr>
          <a:xfrm>
            <a:off x="3067050" y="5753100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Health outcome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5D63ED-4AA8-4276-966D-0CAF52DAA80F}"/>
              </a:ext>
            </a:extLst>
          </p:cNvPr>
          <p:cNvSpPr>
            <a:spLocks noGrp="1"/>
          </p:cNvSpPr>
          <p:nvPr/>
        </p:nvSpPr>
        <p:spPr>
          <a:xfrm>
            <a:off x="3067050" y="5924550"/>
            <a:ext cx="2133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diab, mortstat, perm_exm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0263C4-D09F-4719-BEF6-6114E3364F71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110871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4DADCA-1EE4-4FA1-A004-4072B37B0A0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800" b="0" dirty="0">
                <a:solidFill>
                  <a:srgbClr val="64717A"/>
                </a:solidFill>
                <a:latin typeface="Aptos"/>
                <a:ea typeface="Aptos"/>
                <a:cs typeface="Aptos"/>
              </a:rPr>
              <a:t>Source: worksheet 1, Practical QB Scientific Work; NHANES 1999-2003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4CB88D-A0C2-450F-B886-D8905F0B5651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1745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51BAD69D-954B-4DA5-86B2-E32134EE53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CA80060A-B66E-46D4-B6A3-424984D23FC9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47625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9816FDAF-FA31-446F-9804-820B2264F6BB}"/>
              </a:ext>
            </a:extLst>
          </p:cNvPr>
          <p:cNvSpPr>
            <a:spLocks noGrp="1"/>
          </p:cNvSpPr>
          <p:nvPr/>
        </p:nvSpPr>
        <p:spPr>
          <a:xfrm>
            <a:off x="704850" y="4762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17A"/>
                </a:solidFill>
                <a:latin typeface="Aptos"/>
                <a:ea typeface="Aptos"/>
                <a:cs typeface="Aptos"/>
              </a:rPr>
              <a:t>MEASUREMENT LEVELS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2FC24D-7F7C-4FE4-A508-9C4C5193B009}"/>
              </a:ext>
            </a:extLst>
          </p:cNvPr>
          <p:cNvSpPr>
            <a:spLocks noGrp="1"/>
          </p:cNvSpPr>
          <p:nvPr/>
        </p:nvSpPr>
        <p:spPr>
          <a:xfrm>
            <a:off x="552449" y="876300"/>
            <a:ext cx="9660343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Measurement level determines what “summarize” and “compare”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AF33B0-AC35-4F1C-8FA5-76FF20436E0B}"/>
              </a:ext>
            </a:extLst>
          </p:cNvPr>
          <p:cNvSpPr>
            <a:spLocks noGrp="1"/>
          </p:cNvSpPr>
          <p:nvPr/>
        </p:nvSpPr>
        <p:spPr>
          <a:xfrm>
            <a:off x="666750" y="2076450"/>
            <a:ext cx="1962150" cy="3619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A6B7D3-5DEB-441A-B94E-7C38F7A57D33}"/>
              </a:ext>
            </a:extLst>
          </p:cNvPr>
          <p:cNvSpPr>
            <a:spLocks noGrp="1"/>
          </p:cNvSpPr>
          <p:nvPr/>
        </p:nvSpPr>
        <p:spPr>
          <a:xfrm>
            <a:off x="781050" y="2181225"/>
            <a:ext cx="1733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Variable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9F9BA7-D3A2-4D42-AE3E-FC0975CA1905}"/>
              </a:ext>
            </a:extLst>
          </p:cNvPr>
          <p:cNvSpPr>
            <a:spLocks noGrp="1"/>
          </p:cNvSpPr>
          <p:nvPr/>
        </p:nvSpPr>
        <p:spPr>
          <a:xfrm>
            <a:off x="2800350" y="2076450"/>
            <a:ext cx="1962150" cy="3619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B979A2-D06D-459F-9B0C-DD1912F440A5}"/>
              </a:ext>
            </a:extLst>
          </p:cNvPr>
          <p:cNvSpPr>
            <a:spLocks noGrp="1"/>
          </p:cNvSpPr>
          <p:nvPr/>
        </p:nvSpPr>
        <p:spPr>
          <a:xfrm>
            <a:off x="2914650" y="2181225"/>
            <a:ext cx="1733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77A8A6-A909-4D9F-B7F0-392866F6DE7F}"/>
              </a:ext>
            </a:extLst>
          </p:cNvPr>
          <p:cNvSpPr>
            <a:spLocks noGrp="1"/>
          </p:cNvSpPr>
          <p:nvPr/>
        </p:nvSpPr>
        <p:spPr>
          <a:xfrm>
            <a:off x="4933950" y="2076450"/>
            <a:ext cx="1962150" cy="3619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4DD81E-5684-4053-8B0E-67D66BE4D02E}"/>
              </a:ext>
            </a:extLst>
          </p:cNvPr>
          <p:cNvSpPr>
            <a:spLocks noGrp="1"/>
          </p:cNvSpPr>
          <p:nvPr/>
        </p:nvSpPr>
        <p:spPr>
          <a:xfrm>
            <a:off x="5048250" y="2181225"/>
            <a:ext cx="1733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values mean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95DD68-6BDF-4600-899F-9562C17FE9F4}"/>
              </a:ext>
            </a:extLst>
          </p:cNvPr>
          <p:cNvSpPr>
            <a:spLocks noGrp="1"/>
          </p:cNvSpPr>
          <p:nvPr/>
        </p:nvSpPr>
        <p:spPr>
          <a:xfrm>
            <a:off x="7067550" y="2076450"/>
            <a:ext cx="1962150" cy="3619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24AC0C-C18B-4A0C-9A2A-C8D203E1497E}"/>
              </a:ext>
            </a:extLst>
          </p:cNvPr>
          <p:cNvSpPr>
            <a:spLocks noGrp="1"/>
          </p:cNvSpPr>
          <p:nvPr/>
        </p:nvSpPr>
        <p:spPr>
          <a:xfrm>
            <a:off x="7181850" y="2181225"/>
            <a:ext cx="1733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Good summaries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FAAD95-4630-48B2-9791-E854F1CA0D76}"/>
              </a:ext>
            </a:extLst>
          </p:cNvPr>
          <p:cNvSpPr>
            <a:spLocks noGrp="1"/>
          </p:cNvSpPr>
          <p:nvPr/>
        </p:nvSpPr>
        <p:spPr>
          <a:xfrm>
            <a:off x="9201150" y="2076450"/>
            <a:ext cx="1962150" cy="3619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807739-A7B6-473B-9219-0E04532898D9}"/>
              </a:ext>
            </a:extLst>
          </p:cNvPr>
          <p:cNvSpPr>
            <a:spLocks noGrp="1"/>
          </p:cNvSpPr>
          <p:nvPr/>
        </p:nvSpPr>
        <p:spPr>
          <a:xfrm>
            <a:off x="9315450" y="2181225"/>
            <a:ext cx="17335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Good graphics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03C2A6-AFEA-4B53-9EB9-1404E8FFE901}"/>
              </a:ext>
            </a:extLst>
          </p:cNvPr>
          <p:cNvSpPr>
            <a:spLocks noGrp="1"/>
          </p:cNvSpPr>
          <p:nvPr/>
        </p:nvSpPr>
        <p:spPr>
          <a:xfrm>
            <a:off x="666750" y="24384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DE37BD-BA54-4C42-B909-D033D0193214}"/>
              </a:ext>
            </a:extLst>
          </p:cNvPr>
          <p:cNvSpPr>
            <a:spLocks noGrp="1"/>
          </p:cNvSpPr>
          <p:nvPr/>
        </p:nvSpPr>
        <p:spPr>
          <a:xfrm>
            <a:off x="2800350" y="24384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F2805E-7890-48ED-9B17-36F05F4B8FA7}"/>
              </a:ext>
            </a:extLst>
          </p:cNvPr>
          <p:cNvSpPr>
            <a:spLocks noGrp="1"/>
          </p:cNvSpPr>
          <p:nvPr/>
        </p:nvSpPr>
        <p:spPr>
          <a:xfrm>
            <a:off x="4933950" y="24384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2B3CD9-6DD8-4C08-93B5-4BD14C37B8E9}"/>
              </a:ext>
            </a:extLst>
          </p:cNvPr>
          <p:cNvSpPr>
            <a:spLocks noGrp="1"/>
          </p:cNvSpPr>
          <p:nvPr/>
        </p:nvSpPr>
        <p:spPr>
          <a:xfrm>
            <a:off x="7067550" y="24384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5E1C55-4CF6-4975-8DC7-635E3AB1154F}"/>
              </a:ext>
            </a:extLst>
          </p:cNvPr>
          <p:cNvSpPr>
            <a:spLocks noGrp="1"/>
          </p:cNvSpPr>
          <p:nvPr/>
        </p:nvSpPr>
        <p:spPr>
          <a:xfrm>
            <a:off x="9201150" y="24384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055B9F-37B0-4906-BDB8-750CB7BE0530}"/>
              </a:ext>
            </a:extLst>
          </p:cNvPr>
          <p:cNvSpPr>
            <a:spLocks noGrp="1"/>
          </p:cNvSpPr>
          <p:nvPr/>
        </p:nvSpPr>
        <p:spPr>
          <a:xfrm>
            <a:off x="781050" y="25622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Sex (male)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D3491C-C3F3-4E8A-9FEB-D5FFBF9F59D8}"/>
              </a:ext>
            </a:extLst>
          </p:cNvPr>
          <p:cNvSpPr>
            <a:spLocks noGrp="1"/>
          </p:cNvSpPr>
          <p:nvPr/>
        </p:nvSpPr>
        <p:spPr>
          <a:xfrm>
            <a:off x="2914650" y="25622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Nominal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AA3172-585A-41CE-85FD-3A798D01AF7A}"/>
              </a:ext>
            </a:extLst>
          </p:cNvPr>
          <p:cNvSpPr>
            <a:spLocks noGrp="1"/>
          </p:cNvSpPr>
          <p:nvPr/>
        </p:nvSpPr>
        <p:spPr>
          <a:xfrm>
            <a:off x="5048250" y="25622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Categories, no order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8CB000-787E-481E-9824-DA83359AC1E8}"/>
              </a:ext>
            </a:extLst>
          </p:cNvPr>
          <p:cNvSpPr>
            <a:spLocks noGrp="1"/>
          </p:cNvSpPr>
          <p:nvPr/>
        </p:nvSpPr>
        <p:spPr>
          <a:xfrm>
            <a:off x="7181850" y="25622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Counts, percentages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18A62F-4AAC-4C25-A553-E01CE53B1AA8}"/>
              </a:ext>
            </a:extLst>
          </p:cNvPr>
          <p:cNvSpPr>
            <a:spLocks noGrp="1"/>
          </p:cNvSpPr>
          <p:nvPr/>
        </p:nvSpPr>
        <p:spPr>
          <a:xfrm>
            <a:off x="9315450" y="25622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Bar chart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8B0B9C-FF4C-4E9F-87F3-F8399A988D85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DAD035-5A71-43B8-B55B-21D3591CAE54}"/>
              </a:ext>
            </a:extLst>
          </p:cNvPr>
          <p:cNvSpPr>
            <a:spLocks noGrp="1"/>
          </p:cNvSpPr>
          <p:nvPr/>
        </p:nvSpPr>
        <p:spPr>
          <a:xfrm>
            <a:off x="2800350" y="30670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1E2B2E1-ACBD-446F-BFB1-E3983E9E6469}"/>
              </a:ext>
            </a:extLst>
          </p:cNvPr>
          <p:cNvSpPr>
            <a:spLocks noGrp="1"/>
          </p:cNvSpPr>
          <p:nvPr/>
        </p:nvSpPr>
        <p:spPr>
          <a:xfrm>
            <a:off x="4933950" y="30670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4B92FF-0F26-4FBD-8BB4-55C5654F08D9}"/>
              </a:ext>
            </a:extLst>
          </p:cNvPr>
          <p:cNvSpPr>
            <a:spLocks noGrp="1"/>
          </p:cNvSpPr>
          <p:nvPr/>
        </p:nvSpPr>
        <p:spPr>
          <a:xfrm>
            <a:off x="7067550" y="30670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8D902D-3FF3-4C4F-BF16-B12E07D4EAC8}"/>
              </a:ext>
            </a:extLst>
          </p:cNvPr>
          <p:cNvSpPr>
            <a:spLocks noGrp="1"/>
          </p:cNvSpPr>
          <p:nvPr/>
        </p:nvSpPr>
        <p:spPr>
          <a:xfrm>
            <a:off x="9201150" y="30670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F9C930-2B40-4810-8784-B22CA34CBB6D}"/>
              </a:ext>
            </a:extLst>
          </p:cNvPr>
          <p:cNvSpPr>
            <a:spLocks noGrp="1"/>
          </p:cNvSpPr>
          <p:nvPr/>
        </p:nvSpPr>
        <p:spPr>
          <a:xfrm>
            <a:off x="781050" y="31908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BMI category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4C5EC2-543C-4C8F-AA5F-2FD9446C36B3}"/>
              </a:ext>
            </a:extLst>
          </p:cNvPr>
          <p:cNvSpPr>
            <a:spLocks noGrp="1"/>
          </p:cNvSpPr>
          <p:nvPr/>
        </p:nvSpPr>
        <p:spPr>
          <a:xfrm>
            <a:off x="2914650" y="31908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Ordinal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86EE97-4B35-4BEA-A912-EB65592AB103}"/>
              </a:ext>
            </a:extLst>
          </p:cNvPr>
          <p:cNvSpPr>
            <a:spLocks noGrp="1"/>
          </p:cNvSpPr>
          <p:nvPr/>
        </p:nvSpPr>
        <p:spPr>
          <a:xfrm>
            <a:off x="5048250" y="31908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Ordered groups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27C184-CCFD-40AE-B3CA-7A715638BB95}"/>
              </a:ext>
            </a:extLst>
          </p:cNvPr>
          <p:cNvSpPr>
            <a:spLocks noGrp="1"/>
          </p:cNvSpPr>
          <p:nvPr/>
        </p:nvSpPr>
        <p:spPr>
          <a:xfrm>
            <a:off x="7181850" y="31908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Counts, percentages, median if coded carefully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9263A4-AA6B-4DD8-BD7E-819D602D0E9B}"/>
              </a:ext>
            </a:extLst>
          </p:cNvPr>
          <p:cNvSpPr>
            <a:spLocks noGrp="1"/>
          </p:cNvSpPr>
          <p:nvPr/>
        </p:nvSpPr>
        <p:spPr>
          <a:xfrm>
            <a:off x="9315450" y="31908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Bar chart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75B46FF-B34D-48C6-A63A-69402B2431C8}"/>
              </a:ext>
            </a:extLst>
          </p:cNvPr>
          <p:cNvSpPr>
            <a:spLocks noGrp="1"/>
          </p:cNvSpPr>
          <p:nvPr/>
        </p:nvSpPr>
        <p:spPr>
          <a:xfrm>
            <a:off x="666750" y="36957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E355CB-F2AA-4946-AA7F-49DEBF400ECE}"/>
              </a:ext>
            </a:extLst>
          </p:cNvPr>
          <p:cNvSpPr>
            <a:spLocks noGrp="1"/>
          </p:cNvSpPr>
          <p:nvPr/>
        </p:nvSpPr>
        <p:spPr>
          <a:xfrm>
            <a:off x="2800350" y="36957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BDDBB3-6379-4EBF-974D-472C899CA0C1}"/>
              </a:ext>
            </a:extLst>
          </p:cNvPr>
          <p:cNvSpPr>
            <a:spLocks noGrp="1"/>
          </p:cNvSpPr>
          <p:nvPr/>
        </p:nvSpPr>
        <p:spPr>
          <a:xfrm>
            <a:off x="4933950" y="36957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D8D3B56-CDEC-4BF1-8B3E-D24414AD46E4}"/>
              </a:ext>
            </a:extLst>
          </p:cNvPr>
          <p:cNvSpPr>
            <a:spLocks noGrp="1"/>
          </p:cNvSpPr>
          <p:nvPr/>
        </p:nvSpPr>
        <p:spPr>
          <a:xfrm>
            <a:off x="7067550" y="36957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D89910-6577-4D45-A148-7D74149DC5D8}"/>
              </a:ext>
            </a:extLst>
          </p:cNvPr>
          <p:cNvSpPr>
            <a:spLocks noGrp="1"/>
          </p:cNvSpPr>
          <p:nvPr/>
        </p:nvSpPr>
        <p:spPr>
          <a:xfrm>
            <a:off x="9201150" y="36957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B1591B-DFDF-45C2-BE34-F3BB1DBC74A4}"/>
              </a:ext>
            </a:extLst>
          </p:cNvPr>
          <p:cNvSpPr>
            <a:spLocks noGrp="1"/>
          </p:cNvSpPr>
          <p:nvPr/>
        </p:nvSpPr>
        <p:spPr>
          <a:xfrm>
            <a:off x="781050" y="38195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BMI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1D82545-6B50-4845-88B8-4AAB5D359C55}"/>
              </a:ext>
            </a:extLst>
          </p:cNvPr>
          <p:cNvSpPr>
            <a:spLocks noGrp="1"/>
          </p:cNvSpPr>
          <p:nvPr/>
        </p:nvSpPr>
        <p:spPr>
          <a:xfrm>
            <a:off x="2914650" y="38195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Metric</a:t>
            </a:r>
            <a:r>
              <a:rPr lang="es-ES" sz="863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, </a:t>
            </a:r>
            <a:r>
              <a:rPr lang="es-ES" sz="863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numeric</a:t>
            </a:r>
            <a:r>
              <a:rPr lang="es-ES" sz="863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, </a:t>
            </a:r>
            <a:r>
              <a:rPr lang="es-ES" sz="863" b="1" dirty="0" err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continuous</a:t>
            </a:r>
            <a:endParaRPr sz="863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0CB447-7738-42BD-A6C3-C7C92BCF7500}"/>
              </a:ext>
            </a:extLst>
          </p:cNvPr>
          <p:cNvSpPr>
            <a:spLocks noGrp="1"/>
          </p:cNvSpPr>
          <p:nvPr/>
        </p:nvSpPr>
        <p:spPr>
          <a:xfrm>
            <a:off x="5048250" y="38195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Numeric distance is meaningful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EF9CFEA-A4DE-43D8-8876-F1C3F2D74A36}"/>
              </a:ext>
            </a:extLst>
          </p:cNvPr>
          <p:cNvSpPr>
            <a:spLocks noGrp="1"/>
          </p:cNvSpPr>
          <p:nvPr/>
        </p:nvSpPr>
        <p:spPr>
          <a:xfrm>
            <a:off x="7181850" y="38195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Mean, SD, median, IQR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3DCA2A-C230-489D-9A4F-23614746B4AB}"/>
              </a:ext>
            </a:extLst>
          </p:cNvPr>
          <p:cNvSpPr>
            <a:spLocks noGrp="1"/>
          </p:cNvSpPr>
          <p:nvPr/>
        </p:nvSpPr>
        <p:spPr>
          <a:xfrm>
            <a:off x="9315450" y="38195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Histogram, boxplot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6E13C1C-5639-4933-9D37-9CA4197D96B8}"/>
              </a:ext>
            </a:extLst>
          </p:cNvPr>
          <p:cNvSpPr>
            <a:spLocks noGrp="1"/>
          </p:cNvSpPr>
          <p:nvPr/>
        </p:nvSpPr>
        <p:spPr>
          <a:xfrm>
            <a:off x="666750" y="43243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4254695-DCE1-4C3A-BBC3-E3FF01102B34}"/>
              </a:ext>
            </a:extLst>
          </p:cNvPr>
          <p:cNvSpPr>
            <a:spLocks noGrp="1"/>
          </p:cNvSpPr>
          <p:nvPr/>
        </p:nvSpPr>
        <p:spPr>
          <a:xfrm>
            <a:off x="2800350" y="43243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3B82AD7-DCD8-4B59-B1A5-CF9B5E22B8C4}"/>
              </a:ext>
            </a:extLst>
          </p:cNvPr>
          <p:cNvSpPr>
            <a:spLocks noGrp="1"/>
          </p:cNvSpPr>
          <p:nvPr/>
        </p:nvSpPr>
        <p:spPr>
          <a:xfrm>
            <a:off x="4933950" y="43243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8CD94AE-A606-4437-B9B6-39EB1C065A8A}"/>
              </a:ext>
            </a:extLst>
          </p:cNvPr>
          <p:cNvSpPr>
            <a:spLocks noGrp="1"/>
          </p:cNvSpPr>
          <p:nvPr/>
        </p:nvSpPr>
        <p:spPr>
          <a:xfrm>
            <a:off x="7067550" y="43243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C10FE63-1191-4BF1-9B9B-B0DFB85F9530}"/>
              </a:ext>
            </a:extLst>
          </p:cNvPr>
          <p:cNvSpPr>
            <a:spLocks noGrp="1"/>
          </p:cNvSpPr>
          <p:nvPr/>
        </p:nvSpPr>
        <p:spPr>
          <a:xfrm>
            <a:off x="9201150" y="4324350"/>
            <a:ext cx="19621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BDBF27B-3B26-4AAB-A3FD-934849398301}"/>
              </a:ext>
            </a:extLst>
          </p:cNvPr>
          <p:cNvSpPr>
            <a:spLocks noGrp="1"/>
          </p:cNvSpPr>
          <p:nvPr/>
        </p:nvSpPr>
        <p:spPr>
          <a:xfrm>
            <a:off x="781050" y="44481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Number of teeth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D2639ED-7CF4-4D9F-A11A-A38A81C84F83}"/>
              </a:ext>
            </a:extLst>
          </p:cNvPr>
          <p:cNvSpPr>
            <a:spLocks noGrp="1"/>
          </p:cNvSpPr>
          <p:nvPr/>
        </p:nvSpPr>
        <p:spPr>
          <a:xfrm>
            <a:off x="2914650" y="44481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Discrete metric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CEAD7D8-0664-4447-9CB4-094C96212B67}"/>
              </a:ext>
            </a:extLst>
          </p:cNvPr>
          <p:cNvSpPr>
            <a:spLocks noGrp="1"/>
          </p:cNvSpPr>
          <p:nvPr/>
        </p:nvSpPr>
        <p:spPr>
          <a:xfrm>
            <a:off x="5048250" y="44481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Count from 0 to 32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23C9905-5D87-4714-B733-C7CBBB9FDD5F}"/>
              </a:ext>
            </a:extLst>
          </p:cNvPr>
          <p:cNvSpPr>
            <a:spLocks noGrp="1"/>
          </p:cNvSpPr>
          <p:nvPr/>
        </p:nvSpPr>
        <p:spPr>
          <a:xfrm>
            <a:off x="7181850" y="44481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Mean/median, distribution, floor effects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15052E7-8DDE-4794-8449-845366A9C48B}"/>
              </a:ext>
            </a:extLst>
          </p:cNvPr>
          <p:cNvSpPr>
            <a:spLocks noGrp="1"/>
          </p:cNvSpPr>
          <p:nvPr/>
        </p:nvSpPr>
        <p:spPr>
          <a:xfrm>
            <a:off x="9315450" y="444817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Bar or histogram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FA405A1-0FA0-407E-BB41-A76056921793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D17E677-BD22-4DB8-A89C-4873E2B65FC9}"/>
              </a:ext>
            </a:extLst>
          </p:cNvPr>
          <p:cNvSpPr>
            <a:spLocks noGrp="1"/>
          </p:cNvSpPr>
          <p:nvPr/>
        </p:nvSpPr>
        <p:spPr>
          <a:xfrm>
            <a:off x="2800350" y="49530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8583693-7BCB-4F21-B23E-27EB98505F1B}"/>
              </a:ext>
            </a:extLst>
          </p:cNvPr>
          <p:cNvSpPr>
            <a:spLocks noGrp="1"/>
          </p:cNvSpPr>
          <p:nvPr/>
        </p:nvSpPr>
        <p:spPr>
          <a:xfrm>
            <a:off x="4933950" y="49530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1C4B5AB-F22C-47E9-86CE-C33450CC4CAA}"/>
              </a:ext>
            </a:extLst>
          </p:cNvPr>
          <p:cNvSpPr>
            <a:spLocks noGrp="1"/>
          </p:cNvSpPr>
          <p:nvPr/>
        </p:nvSpPr>
        <p:spPr>
          <a:xfrm>
            <a:off x="7067550" y="49530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F077E96-E836-4F4D-9423-5932AB1AC4A7}"/>
              </a:ext>
            </a:extLst>
          </p:cNvPr>
          <p:cNvSpPr>
            <a:spLocks noGrp="1"/>
          </p:cNvSpPr>
          <p:nvPr/>
        </p:nvSpPr>
        <p:spPr>
          <a:xfrm>
            <a:off x="9201150" y="4953000"/>
            <a:ext cx="1962150" cy="628650"/>
          </a:xfrm>
          <a:prstGeom prst="rect">
            <a:avLst/>
          </a:prstGeom>
          <a:solidFill>
            <a:srgbClr val="FBF8F0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7A102E2-1E18-4E1F-B559-BB96CEAC2272}"/>
              </a:ext>
            </a:extLst>
          </p:cNvPr>
          <p:cNvSpPr>
            <a:spLocks noGrp="1"/>
          </p:cNvSpPr>
          <p:nvPr/>
        </p:nvSpPr>
        <p:spPr>
          <a:xfrm>
            <a:off x="781050" y="50768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Height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069AF74-F39E-4803-A7E5-B54EF227674E}"/>
              </a:ext>
            </a:extLst>
          </p:cNvPr>
          <p:cNvSpPr>
            <a:spLocks noGrp="1"/>
          </p:cNvSpPr>
          <p:nvPr/>
        </p:nvSpPr>
        <p:spPr>
          <a:xfrm>
            <a:off x="2914650" y="50768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lang="en-GB" sz="863" b="1" dirty="0">
                <a:solidFill>
                  <a:srgbClr val="0F766E"/>
                </a:solidFill>
                <a:latin typeface="Aptos"/>
                <a:ea typeface="Aptos"/>
                <a:cs typeface="Aptos"/>
              </a:rPr>
              <a:t>Metric, numeric, continuous</a:t>
            </a:r>
          </a:p>
          <a:p>
            <a:pPr algn="l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endParaRPr sz="863" b="1" dirty="0">
              <a:solidFill>
                <a:srgbClr val="0F766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0D3720BB-49D7-4B35-BD8F-E441F50CF26D}"/>
              </a:ext>
            </a:extLst>
          </p:cNvPr>
          <p:cNvSpPr>
            <a:spLocks noGrp="1"/>
          </p:cNvSpPr>
          <p:nvPr/>
        </p:nvSpPr>
        <p:spPr>
          <a:xfrm>
            <a:off x="5048250" y="50768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Measured in cm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25071D7-8AA2-4C82-A176-FCE29986314D}"/>
              </a:ext>
            </a:extLst>
          </p:cNvPr>
          <p:cNvSpPr>
            <a:spLocks noGrp="1"/>
          </p:cNvSpPr>
          <p:nvPr/>
        </p:nvSpPr>
        <p:spPr>
          <a:xfrm>
            <a:off x="7181850" y="50768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Mean, SD, range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085FB57-DF8F-4770-9BD9-CA9A0A31A335}"/>
              </a:ext>
            </a:extLst>
          </p:cNvPr>
          <p:cNvSpPr>
            <a:spLocks noGrp="1"/>
          </p:cNvSpPr>
          <p:nvPr/>
        </p:nvSpPr>
        <p:spPr>
          <a:xfrm>
            <a:off x="9315450" y="5076825"/>
            <a:ext cx="1733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Histogram, boxplot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A20FE67-6B52-4B49-BE96-D55B2EF9BF61}"/>
              </a:ext>
            </a:extLst>
          </p:cNvPr>
          <p:cNvSpPr>
            <a:spLocks noGrp="1"/>
          </p:cNvSpPr>
          <p:nvPr/>
        </p:nvSpPr>
        <p:spPr>
          <a:xfrm>
            <a:off x="666750" y="5715000"/>
            <a:ext cx="1036320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DEB5581-7142-433C-B1F3-1C34D0E49ADB}"/>
              </a:ext>
            </a:extLst>
          </p:cNvPr>
          <p:cNvSpPr>
            <a:spLocks noGrp="1"/>
          </p:cNvSpPr>
          <p:nvPr/>
        </p:nvSpPr>
        <p:spPr>
          <a:xfrm>
            <a:off x="819150" y="5876925"/>
            <a:ext cx="8001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SPSS check: open Variable View and confirm Measure is set consistently with the actual coding.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B8BC36E-C866-4528-AA37-215C53FC32F4}"/>
              </a:ext>
            </a:extLst>
          </p:cNvPr>
          <p:cNvSpPr>
            <a:spLocks noGrp="1"/>
          </p:cNvSpPr>
          <p:nvPr/>
        </p:nvSpPr>
        <p:spPr>
          <a:xfrm>
            <a:off x="819150" y="6115050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Key distinction: number of teeth is a count with bounded integer values; height and BMI are continuous measurements.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B8767E6-1CD0-4A16-AEEF-D6A86FAC2A14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110871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2E06196-6681-4E90-9844-DE1A9407D10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Source: worksheet 1, Practical QB Scientific Work; NHANES 1999-2003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5345746-EAD9-4274-8768-8C5E11025534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27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1F548B0B-9211-49C8-97DE-41153CA22F20}"/>
              </a:ext>
            </a:extLst>
          </p:cNvPr>
          <p:cNvSpPr>
            <a:spLocks noGrp="1"/>
          </p:cNvSpPr>
          <p:nvPr/>
        </p:nvSpPr>
        <p:spPr>
          <a:xfrm>
            <a:off x="0" y="30480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618DF2A7-0063-4DCB-B69C-FD1A9C15647C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47625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66927D6B-7DC1-41DB-8277-FA56E4481A4F}"/>
              </a:ext>
            </a:extLst>
          </p:cNvPr>
          <p:cNvSpPr>
            <a:spLocks noGrp="1"/>
          </p:cNvSpPr>
          <p:nvPr/>
        </p:nvSpPr>
        <p:spPr>
          <a:xfrm>
            <a:off x="704850" y="4762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17A"/>
                </a:solidFill>
                <a:latin typeface="Aptos"/>
                <a:ea typeface="Aptos"/>
                <a:cs typeface="Aptos"/>
              </a:rPr>
              <a:t>GRAPH CHOICE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2FDFA3-49BB-4BE9-AE7B-1E5CAC2B533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9906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Choose the graph from the question and the variable type before using Chart Builder.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CF520A-E3CD-4BC4-9B16-5F04C6BDFCB4}"/>
              </a:ext>
            </a:extLst>
          </p:cNvPr>
          <p:cNvSpPr>
            <a:spLocks noGrp="1"/>
          </p:cNvSpPr>
          <p:nvPr/>
        </p:nvSpPr>
        <p:spPr>
          <a:xfrm>
            <a:off x="781050" y="2438400"/>
            <a:ext cx="2381250" cy="876300"/>
          </a:xfrm>
          <a:prstGeom prst="rect">
            <a:avLst/>
          </a:prstGeom>
          <a:solidFill>
            <a:srgbClr val="FFFFFF"/>
          </a:solidFill>
          <a:ln w="1143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58589-8341-43E0-9ADF-372A4730C15F}"/>
              </a:ext>
            </a:extLst>
          </p:cNvPr>
          <p:cNvSpPr>
            <a:spLocks noGrp="1"/>
          </p:cNvSpPr>
          <p:nvPr/>
        </p:nvSpPr>
        <p:spPr>
          <a:xfrm>
            <a:off x="952500" y="2581275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Variable type?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2AF0F8-D970-44D4-9C95-7852F3FB05BE}"/>
              </a:ext>
            </a:extLst>
          </p:cNvPr>
          <p:cNvSpPr>
            <a:spLocks noGrp="1"/>
          </p:cNvSpPr>
          <p:nvPr/>
        </p:nvSpPr>
        <p:spPr>
          <a:xfrm>
            <a:off x="952500" y="2914650"/>
            <a:ext cx="2038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Start here. Decide whether the variable is categorical or quantitative.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49F289-4DAD-4681-B312-D0F31C1C066F}"/>
              </a:ext>
            </a:extLst>
          </p:cNvPr>
          <p:cNvSpPr>
            <a:spLocks noGrp="1"/>
          </p:cNvSpPr>
          <p:nvPr/>
        </p:nvSpPr>
        <p:spPr>
          <a:xfrm>
            <a:off x="4457700" y="1962150"/>
            <a:ext cx="2343150" cy="838200"/>
          </a:xfrm>
          <a:prstGeom prst="rect">
            <a:avLst/>
          </a:prstGeom>
          <a:solidFill>
            <a:srgbClr val="DCEDEA"/>
          </a:solidFill>
          <a:ln w="1143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228DCF-8629-4527-84B1-915C874E96B0}"/>
              </a:ext>
            </a:extLst>
          </p:cNvPr>
          <p:cNvSpPr>
            <a:spLocks noGrp="1"/>
          </p:cNvSpPr>
          <p:nvPr/>
        </p:nvSpPr>
        <p:spPr>
          <a:xfrm>
            <a:off x="4629150" y="21050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Categorical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086D45-5A90-4A22-B50C-7C379301834D}"/>
              </a:ext>
            </a:extLst>
          </p:cNvPr>
          <p:cNvSpPr>
            <a:spLocks noGrp="1"/>
          </p:cNvSpPr>
          <p:nvPr/>
        </p:nvSpPr>
        <p:spPr>
          <a:xfrm>
            <a:off x="4629150" y="2438400"/>
            <a:ext cx="2000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Names or groups, with no meaningful numeric distance.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38AB2B-F9AE-43C3-A5F8-6DA9A507B0B2}"/>
              </a:ext>
            </a:extLst>
          </p:cNvPr>
          <p:cNvSpPr>
            <a:spLocks noGrp="1"/>
          </p:cNvSpPr>
          <p:nvPr/>
        </p:nvSpPr>
        <p:spPr>
          <a:xfrm>
            <a:off x="4457700" y="3733800"/>
            <a:ext cx="2343150" cy="990600"/>
          </a:xfrm>
          <a:prstGeom prst="rect">
            <a:avLst/>
          </a:prstGeom>
          <a:solidFill>
            <a:srgbClr val="F8DDD4"/>
          </a:solidFill>
          <a:ln w="1143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C6B305-3765-414B-85C7-B956922C6B1F}"/>
              </a:ext>
            </a:extLst>
          </p:cNvPr>
          <p:cNvSpPr>
            <a:spLocks noGrp="1"/>
          </p:cNvSpPr>
          <p:nvPr/>
        </p:nvSpPr>
        <p:spPr>
          <a:xfrm>
            <a:off x="4629150" y="387667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Quantitative / metric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815452-45A7-46A7-96E8-E4A1309857CB}"/>
              </a:ext>
            </a:extLst>
          </p:cNvPr>
          <p:cNvSpPr>
            <a:spLocks noGrp="1"/>
          </p:cNvSpPr>
          <p:nvPr/>
        </p:nvSpPr>
        <p:spPr>
          <a:xfrm>
            <a:off x="462915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Numbers where distances or ordered magnitudes carry information.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1D2363-CB26-41D2-B1EB-20A2C5C65447}"/>
              </a:ext>
            </a:extLst>
          </p:cNvPr>
          <p:cNvSpPr>
            <a:spLocks noGrp="1"/>
          </p:cNvSpPr>
          <p:nvPr/>
        </p:nvSpPr>
        <p:spPr>
          <a:xfrm>
            <a:off x="8115300" y="1714500"/>
            <a:ext cx="2381250" cy="781050"/>
          </a:xfrm>
          <a:prstGeom prst="rect">
            <a:avLst/>
          </a:prstGeom>
          <a:solidFill>
            <a:srgbClr val="DCEDEA"/>
          </a:solidFill>
          <a:ln w="1143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FF8390-2F81-455F-A7B6-E4BD7C34A605}"/>
              </a:ext>
            </a:extLst>
          </p:cNvPr>
          <p:cNvSpPr>
            <a:spLocks noGrp="1"/>
          </p:cNvSpPr>
          <p:nvPr/>
        </p:nvSpPr>
        <p:spPr>
          <a:xfrm>
            <a:off x="8286750" y="1857375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Bar chart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3738DD-92C3-4E86-A47B-2B88A1E6A685}"/>
              </a:ext>
            </a:extLst>
          </p:cNvPr>
          <p:cNvSpPr>
            <a:spLocks noGrp="1"/>
          </p:cNvSpPr>
          <p:nvPr/>
        </p:nvSpPr>
        <p:spPr>
          <a:xfrm>
            <a:off x="8286750" y="2190750"/>
            <a:ext cx="20383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Show counts or percentages by category.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84C8D8-3379-4B4D-AF38-DC9E65E29DC9}"/>
              </a:ext>
            </a:extLst>
          </p:cNvPr>
          <p:cNvSpPr>
            <a:spLocks noGrp="1"/>
          </p:cNvSpPr>
          <p:nvPr/>
        </p:nvSpPr>
        <p:spPr>
          <a:xfrm>
            <a:off x="8115300" y="3143250"/>
            <a:ext cx="2381250" cy="742950"/>
          </a:xfrm>
          <a:prstGeom prst="rect">
            <a:avLst/>
          </a:prstGeom>
          <a:solidFill>
            <a:srgbClr val="F2E6B8"/>
          </a:solidFill>
          <a:ln w="11430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3D958D-8DD4-4286-82EB-80945302EAEC}"/>
              </a:ext>
            </a:extLst>
          </p:cNvPr>
          <p:cNvSpPr>
            <a:spLocks noGrp="1"/>
          </p:cNvSpPr>
          <p:nvPr/>
        </p:nvSpPr>
        <p:spPr>
          <a:xfrm>
            <a:off x="8286750" y="3286125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C99700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C99700"/>
                </a:solidFill>
                <a:latin typeface="Aptos Display"/>
                <a:ea typeface="Aptos Display"/>
                <a:cs typeface="Aptos Display"/>
              </a:rPr>
              <a:t>Histogram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0F1F64-C1E9-4383-BAF2-73BA525BD246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2038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for distribution shape, spread, skew, or modality.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E41D2F-DEB0-4068-B968-FF96EBD77770}"/>
              </a:ext>
            </a:extLst>
          </p:cNvPr>
          <p:cNvSpPr>
            <a:spLocks noGrp="1"/>
          </p:cNvSpPr>
          <p:nvPr/>
        </p:nvSpPr>
        <p:spPr>
          <a:xfrm>
            <a:off x="8115300" y="4076700"/>
            <a:ext cx="2381250" cy="742950"/>
          </a:xfrm>
          <a:prstGeom prst="rect">
            <a:avLst/>
          </a:prstGeom>
          <a:solidFill>
            <a:srgbClr val="F8DDD4"/>
          </a:solidFill>
          <a:ln w="1143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DF07C6-3357-4F59-BC0F-2BBD0FB3A483}"/>
              </a:ext>
            </a:extLst>
          </p:cNvPr>
          <p:cNvSpPr>
            <a:spLocks noGrp="1"/>
          </p:cNvSpPr>
          <p:nvPr/>
        </p:nvSpPr>
        <p:spPr>
          <a:xfrm>
            <a:off x="8286750" y="4219575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Boxplot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111E7E-82BC-4297-AC07-9733B5CD68DD}"/>
              </a:ext>
            </a:extLst>
          </p:cNvPr>
          <p:cNvSpPr>
            <a:spLocks noGrp="1"/>
          </p:cNvSpPr>
          <p:nvPr/>
        </p:nvSpPr>
        <p:spPr>
          <a:xfrm>
            <a:off x="8286750" y="4552950"/>
            <a:ext cx="2038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for median, IQR, whiskers, and outliers.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05D7B6-1A3E-4974-AAF0-E6603F8AB8FE}"/>
              </a:ext>
            </a:extLst>
          </p:cNvPr>
          <p:cNvSpPr>
            <a:spLocks noGrp="1"/>
          </p:cNvSpPr>
          <p:nvPr/>
        </p:nvSpPr>
        <p:spPr>
          <a:xfrm>
            <a:off x="8115300" y="5010150"/>
            <a:ext cx="238125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18707B-8EBA-4864-8CF0-A0A9312430DB}"/>
              </a:ext>
            </a:extLst>
          </p:cNvPr>
          <p:cNvSpPr>
            <a:spLocks noGrp="1"/>
          </p:cNvSpPr>
          <p:nvPr/>
        </p:nvSpPr>
        <p:spPr>
          <a:xfrm>
            <a:off x="8286750" y="5153025"/>
            <a:ext cx="2038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Q-Q plot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2D52E7-8489-41E0-A307-D49F8D6F1832}"/>
              </a:ext>
            </a:extLst>
          </p:cNvPr>
          <p:cNvSpPr>
            <a:spLocks noGrp="1"/>
          </p:cNvSpPr>
          <p:nvPr/>
        </p:nvSpPr>
        <p:spPr>
          <a:xfrm>
            <a:off x="8286750" y="5486400"/>
            <a:ext cx="2038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when approximate normality matters.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D0D54C-E03F-48DB-B8BD-1A1AAF4DC8F8}"/>
              </a:ext>
            </a:extLst>
          </p:cNvPr>
          <p:cNvSpPr>
            <a:spLocks noGrp="1"/>
          </p:cNvSpPr>
          <p:nvPr/>
        </p:nvSpPr>
        <p:spPr>
          <a:xfrm>
            <a:off x="4457700" y="5010150"/>
            <a:ext cx="234315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0D3E94-2265-4E8A-9AF9-AF16377C1092}"/>
              </a:ext>
            </a:extLst>
          </p:cNvPr>
          <p:cNvSpPr>
            <a:spLocks noGrp="1"/>
          </p:cNvSpPr>
          <p:nvPr/>
        </p:nvSpPr>
        <p:spPr>
          <a:xfrm>
            <a:off x="4629150" y="5153025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Count with few values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46CB7D-A86A-4085-8A8A-122F801BDEF1}"/>
              </a:ext>
            </a:extLst>
          </p:cNvPr>
          <p:cNvSpPr>
            <a:spLocks noGrp="1"/>
          </p:cNvSpPr>
          <p:nvPr/>
        </p:nvSpPr>
        <p:spPr>
          <a:xfrm>
            <a:off x="4629150" y="54864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Number of teeth: bar chart or histogram.</a:t>
            </a:r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E13D7FE4-A15A-475E-B957-7FBB25556FD3}"/>
              </a:ext>
            </a:extLst>
          </p:cNvPr>
          <p:cNvSpPr>
            <a:spLocks noGrp="1"/>
          </p:cNvSpPr>
          <p:nvPr/>
        </p:nvSpPr>
        <p:spPr>
          <a:xfrm flipV="1">
            <a:off x="3162300" y="2400300"/>
            <a:ext cx="1238250" cy="3238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471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81346B3-A3C9-4F3C-AA87-4D634729646A}"/>
              </a:ext>
            </a:extLst>
          </p:cNvPr>
          <p:cNvSpPr>
            <a:spLocks noGrp="1"/>
          </p:cNvSpPr>
          <p:nvPr/>
        </p:nvSpPr>
        <p:spPr>
          <a:xfrm rot="5400000">
            <a:off x="4400550" y="2324100"/>
            <a:ext cx="114300" cy="114300"/>
          </a:xfrm>
          <a:prstGeom prst="triangle">
            <a:avLst/>
          </a:prstGeom>
          <a:solidFill>
            <a:srgbClr val="64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41D564-A89F-445A-AC8B-2D9E199D2E42}"/>
              </a:ext>
            </a:extLst>
          </p:cNvPr>
          <p:cNvSpPr>
            <a:spLocks noGrp="1"/>
          </p:cNvSpPr>
          <p:nvPr/>
        </p:nvSpPr>
        <p:spPr>
          <a:xfrm>
            <a:off x="3429000" y="2228850"/>
            <a:ext cx="876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if categories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A52BA7B8-9EBB-4377-95FD-71DD28A0D52B}"/>
              </a:ext>
            </a:extLst>
          </p:cNvPr>
          <p:cNvSpPr>
            <a:spLocks noGrp="1"/>
          </p:cNvSpPr>
          <p:nvPr/>
        </p:nvSpPr>
        <p:spPr>
          <a:xfrm>
            <a:off x="3162300" y="3028950"/>
            <a:ext cx="1295400" cy="12001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471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Triangle 32">
            <a:extLst>
              <a:ext uri="{FF2B5EF4-FFF2-40B4-BE49-F238E27FC236}">
                <a16:creationId xmlns:a16="http://schemas.microsoft.com/office/drawing/2014/main" id="{0A170EBF-14E0-4C50-966F-8B45B1FA0AF0}"/>
              </a:ext>
            </a:extLst>
          </p:cNvPr>
          <p:cNvSpPr>
            <a:spLocks noGrp="1"/>
          </p:cNvSpPr>
          <p:nvPr/>
        </p:nvSpPr>
        <p:spPr>
          <a:xfrm rot="8123925">
            <a:off x="4400550" y="4171950"/>
            <a:ext cx="114300" cy="114300"/>
          </a:xfrm>
          <a:prstGeom prst="triangle">
            <a:avLst/>
          </a:prstGeom>
          <a:solidFill>
            <a:srgbClr val="64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7A098D-48DB-4254-A864-6AD9EC602E9C}"/>
              </a:ext>
            </a:extLst>
          </p:cNvPr>
          <p:cNvSpPr>
            <a:spLocks noGrp="1"/>
          </p:cNvSpPr>
          <p:nvPr/>
        </p:nvSpPr>
        <p:spPr>
          <a:xfrm>
            <a:off x="3429000" y="392430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76F51"/>
                </a:solidFill>
                <a:latin typeface="Aptos"/>
                <a:ea typeface="Aptos"/>
                <a:cs typeface="Aptos"/>
              </a:rPr>
              <a:t>if numbers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4F9573F6-9EBC-4CF8-AA7E-8747830C1221}"/>
              </a:ext>
            </a:extLst>
          </p:cNvPr>
          <p:cNvSpPr>
            <a:spLocks noGrp="1"/>
          </p:cNvSpPr>
          <p:nvPr/>
        </p:nvSpPr>
        <p:spPr>
          <a:xfrm>
            <a:off x="6800850" y="2105025"/>
            <a:ext cx="1295400" cy="23921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471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Triangle 35">
            <a:extLst>
              <a:ext uri="{FF2B5EF4-FFF2-40B4-BE49-F238E27FC236}">
                <a16:creationId xmlns:a16="http://schemas.microsoft.com/office/drawing/2014/main" id="{48D00E27-1150-4550-BE49-8AC6F70FAF20}"/>
              </a:ext>
            </a:extLst>
          </p:cNvPr>
          <p:cNvSpPr>
            <a:spLocks noGrp="1"/>
          </p:cNvSpPr>
          <p:nvPr/>
        </p:nvSpPr>
        <p:spPr>
          <a:xfrm rot="5400000">
            <a:off x="8058150" y="2057400"/>
            <a:ext cx="114300" cy="114300"/>
          </a:xfrm>
          <a:prstGeom prst="triangle">
            <a:avLst/>
          </a:prstGeom>
          <a:solidFill>
            <a:srgbClr val="64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20FD3BF7-2FD0-4435-B902-A087069D4FC6}"/>
              </a:ext>
            </a:extLst>
          </p:cNvPr>
          <p:cNvSpPr>
            <a:spLocks noGrp="1"/>
          </p:cNvSpPr>
          <p:nvPr/>
        </p:nvSpPr>
        <p:spPr>
          <a:xfrm flipV="1">
            <a:off x="6800850" y="3505200"/>
            <a:ext cx="1257299" cy="72390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471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Triangle 37">
            <a:extLst>
              <a:ext uri="{FF2B5EF4-FFF2-40B4-BE49-F238E27FC236}">
                <a16:creationId xmlns:a16="http://schemas.microsoft.com/office/drawing/2014/main" id="{293E405D-A3D0-4F2E-B7A9-4457FEA4F6FA}"/>
              </a:ext>
            </a:extLst>
          </p:cNvPr>
          <p:cNvSpPr>
            <a:spLocks noGrp="1"/>
          </p:cNvSpPr>
          <p:nvPr/>
        </p:nvSpPr>
        <p:spPr>
          <a:xfrm rot="3894535">
            <a:off x="8058150" y="3425676"/>
            <a:ext cx="114300" cy="114300"/>
          </a:xfrm>
          <a:prstGeom prst="triangle">
            <a:avLst/>
          </a:prstGeom>
          <a:solidFill>
            <a:srgbClr val="64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155DC349-8F34-45C4-8A7A-38E6A8754B61}"/>
              </a:ext>
            </a:extLst>
          </p:cNvPr>
          <p:cNvSpPr>
            <a:spLocks noGrp="1"/>
          </p:cNvSpPr>
          <p:nvPr/>
        </p:nvSpPr>
        <p:spPr>
          <a:xfrm>
            <a:off x="6800850" y="4229100"/>
            <a:ext cx="1314450" cy="21907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471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riangle 39">
            <a:extLst>
              <a:ext uri="{FF2B5EF4-FFF2-40B4-BE49-F238E27FC236}">
                <a16:creationId xmlns:a16="http://schemas.microsoft.com/office/drawing/2014/main" id="{353F5B48-A125-4930-A86C-0124506E0F53}"/>
              </a:ext>
            </a:extLst>
          </p:cNvPr>
          <p:cNvSpPr>
            <a:spLocks noGrp="1"/>
          </p:cNvSpPr>
          <p:nvPr/>
        </p:nvSpPr>
        <p:spPr>
          <a:xfrm rot="5998578">
            <a:off x="8058150" y="4380392"/>
            <a:ext cx="114300" cy="114300"/>
          </a:xfrm>
          <a:prstGeom prst="triangle">
            <a:avLst/>
          </a:prstGeom>
          <a:solidFill>
            <a:srgbClr val="64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E247A107-9B6E-476A-A52C-7AF1E0696BF9}"/>
              </a:ext>
            </a:extLst>
          </p:cNvPr>
          <p:cNvSpPr>
            <a:spLocks noGrp="1"/>
          </p:cNvSpPr>
          <p:nvPr/>
        </p:nvSpPr>
        <p:spPr>
          <a:xfrm>
            <a:off x="6800850" y="4229100"/>
            <a:ext cx="1314450" cy="1152525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471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32975C47-24F7-4E1C-8A94-099C639A0BF8}"/>
              </a:ext>
            </a:extLst>
          </p:cNvPr>
          <p:cNvSpPr>
            <a:spLocks noGrp="1"/>
          </p:cNvSpPr>
          <p:nvPr/>
        </p:nvSpPr>
        <p:spPr>
          <a:xfrm rot="7671882">
            <a:off x="8058150" y="5324475"/>
            <a:ext cx="114300" cy="114300"/>
          </a:xfrm>
          <a:prstGeom prst="triangle">
            <a:avLst/>
          </a:prstGeom>
          <a:solidFill>
            <a:srgbClr val="64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E8360702-93D0-479C-B97B-89CF25F0D261}"/>
              </a:ext>
            </a:extLst>
          </p:cNvPr>
          <p:cNvSpPr>
            <a:spLocks noGrp="1"/>
          </p:cNvSpPr>
          <p:nvPr/>
        </p:nvSpPr>
        <p:spPr>
          <a:xfrm>
            <a:off x="5629275" y="4724400"/>
            <a:ext cx="0" cy="2857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64717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4" name="Triangle 43">
            <a:extLst>
              <a:ext uri="{FF2B5EF4-FFF2-40B4-BE49-F238E27FC236}">
                <a16:creationId xmlns:a16="http://schemas.microsoft.com/office/drawing/2014/main" id="{CD8353D6-C290-4604-810B-2AD41CDAB064}"/>
              </a:ext>
            </a:extLst>
          </p:cNvPr>
          <p:cNvSpPr>
            <a:spLocks noGrp="1"/>
          </p:cNvSpPr>
          <p:nvPr/>
        </p:nvSpPr>
        <p:spPr>
          <a:xfrm rot="10800000">
            <a:off x="5572125" y="4953000"/>
            <a:ext cx="114300" cy="114300"/>
          </a:xfrm>
          <a:prstGeom prst="triangle">
            <a:avLst/>
          </a:prstGeom>
          <a:solidFill>
            <a:srgbClr val="6471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8CB1C8-CF83-4FB9-A1A1-92D8F7EDC710}"/>
              </a:ext>
            </a:extLst>
          </p:cNvPr>
          <p:cNvSpPr>
            <a:spLocks noGrp="1"/>
          </p:cNvSpPr>
          <p:nvPr/>
        </p:nvSpPr>
        <p:spPr>
          <a:xfrm>
            <a:off x="781050" y="5943600"/>
            <a:ext cx="9715500" cy="2857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D6EC33-D4AF-4B75-9DB2-C98EB5A1C92E}"/>
              </a:ext>
            </a:extLst>
          </p:cNvPr>
          <p:cNvSpPr>
            <a:spLocks noGrp="1"/>
          </p:cNvSpPr>
          <p:nvPr/>
        </p:nvSpPr>
        <p:spPr>
          <a:xfrm>
            <a:off x="990600" y="6010275"/>
            <a:ext cx="923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SPSS path: Graphs -&gt; Chart Builder. Pick the chart family first, then drag the variable to the axis.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57EB450-E4A6-474C-A454-4870D99A40C7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110871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42F8816-E30E-4FB7-B93D-74C3D67343A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Source: worksheet 1, Practical QB Scientific Work; NHANES 1999-2003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00CC5D6-4E19-4B2C-A102-B569694D9299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11671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2627D2E-8043-473D-A164-D6B3BB2EA2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AD4D7B82-FB29-41B5-B9B6-506B1CF96C28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47625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6D43DBF1-6B11-440E-A5C0-7645EF57BFEC}"/>
              </a:ext>
            </a:extLst>
          </p:cNvPr>
          <p:cNvSpPr>
            <a:spLocks noGrp="1"/>
          </p:cNvSpPr>
          <p:nvPr/>
        </p:nvSpPr>
        <p:spPr>
          <a:xfrm>
            <a:off x="704850" y="4762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17A"/>
                </a:solidFill>
                <a:latin typeface="Aptos"/>
                <a:ea typeface="Aptos"/>
                <a:cs typeface="Aptos"/>
              </a:rPr>
              <a:t>READING ONE VARIABLE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AFD82-52A9-4E21-8F21-070EDC095371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9239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Distribution graphics answer different questions about the same metric variable.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18C313-D410-450C-8622-57FF2B9B1CAF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302895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615D9-1FA0-47B5-85E8-EEA611D8CC82}"/>
              </a:ext>
            </a:extLst>
          </p:cNvPr>
          <p:cNvSpPr>
            <a:spLocks noGrp="1"/>
          </p:cNvSpPr>
          <p:nvPr/>
        </p:nvSpPr>
        <p:spPr>
          <a:xfrm>
            <a:off x="914400" y="2171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Histogram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B7C4C2-C67F-4F1B-8662-6791C629FA39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What is the shape?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9A4FDD-A261-47C4-B7C4-E7F20DFFDA1C}"/>
              </a:ext>
            </a:extLst>
          </p:cNvPr>
          <p:cNvSpPr>
            <a:spLocks noGrp="1"/>
          </p:cNvSpPr>
          <p:nvPr/>
        </p:nvSpPr>
        <p:spPr>
          <a:xfrm>
            <a:off x="4457700" y="1943100"/>
            <a:ext cx="302895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0E6E47-22B8-4C91-91C7-EF641B0A7F96}"/>
              </a:ext>
            </a:extLst>
          </p:cNvPr>
          <p:cNvSpPr>
            <a:spLocks noGrp="1"/>
          </p:cNvSpPr>
          <p:nvPr/>
        </p:nvSpPr>
        <p:spPr>
          <a:xfrm>
            <a:off x="4686300" y="2171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Boxplot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AE8578-F325-4ABA-B1AC-3306C90A7B16}"/>
              </a:ext>
            </a:extLst>
          </p:cNvPr>
          <p:cNvSpPr>
            <a:spLocks noGrp="1"/>
          </p:cNvSpPr>
          <p:nvPr/>
        </p:nvSpPr>
        <p:spPr>
          <a:xfrm>
            <a:off x="4686300" y="24574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Where are median, IQR, and outliers?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F77DC3-0A3E-44B6-929C-BD51FB4E447C}"/>
              </a:ext>
            </a:extLst>
          </p:cNvPr>
          <p:cNvSpPr>
            <a:spLocks noGrp="1"/>
          </p:cNvSpPr>
          <p:nvPr/>
        </p:nvSpPr>
        <p:spPr>
          <a:xfrm>
            <a:off x="8229600" y="1943100"/>
            <a:ext cx="302895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2EBD09-121A-4935-82C4-F78C21F85507}"/>
              </a:ext>
            </a:extLst>
          </p:cNvPr>
          <p:cNvSpPr>
            <a:spLocks noGrp="1"/>
          </p:cNvSpPr>
          <p:nvPr/>
        </p:nvSpPr>
        <p:spPr>
          <a:xfrm>
            <a:off x="8458200" y="21717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Q-Q plot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476865-DF3D-435E-B73B-3739639CD620}"/>
              </a:ext>
            </a:extLst>
          </p:cNvPr>
          <p:cNvSpPr>
            <a:spLocks noGrp="1"/>
          </p:cNvSpPr>
          <p:nvPr/>
        </p:nvSpPr>
        <p:spPr>
          <a:xfrm>
            <a:off x="8458200" y="2457450"/>
            <a:ext cx="238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Does the distribution roughly follow normality?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6A951B-6F4C-4D21-836E-E62AFA09712E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2247900" cy="9525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33D4B9-FDC8-4046-8240-E0C125D96301}"/>
              </a:ext>
            </a:extLst>
          </p:cNvPr>
          <p:cNvSpPr>
            <a:spLocks noGrp="1"/>
          </p:cNvSpPr>
          <p:nvPr/>
        </p:nvSpPr>
        <p:spPr>
          <a:xfrm>
            <a:off x="1066800" y="3238500"/>
            <a:ext cx="9525" cy="12001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EC331D-36FA-47EB-8E48-2D90601A9720}"/>
              </a:ext>
            </a:extLst>
          </p:cNvPr>
          <p:cNvSpPr>
            <a:spLocks noGrp="1"/>
          </p:cNvSpPr>
          <p:nvPr/>
        </p:nvSpPr>
        <p:spPr>
          <a:xfrm>
            <a:off x="1257300" y="4114800"/>
            <a:ext cx="209550" cy="3238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E74056-A92A-4F68-8FCF-D432B778DEB2}"/>
              </a:ext>
            </a:extLst>
          </p:cNvPr>
          <p:cNvSpPr>
            <a:spLocks noGrp="1"/>
          </p:cNvSpPr>
          <p:nvPr/>
        </p:nvSpPr>
        <p:spPr>
          <a:xfrm>
            <a:off x="1524000" y="3790950"/>
            <a:ext cx="209550" cy="6477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7F8538-5BE1-4578-A07E-1992083CCC36}"/>
              </a:ext>
            </a:extLst>
          </p:cNvPr>
          <p:cNvSpPr>
            <a:spLocks noGrp="1"/>
          </p:cNvSpPr>
          <p:nvPr/>
        </p:nvSpPr>
        <p:spPr>
          <a:xfrm>
            <a:off x="1790700" y="3371850"/>
            <a:ext cx="209550" cy="10668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1A2B17-D290-4A79-9D62-5968450AB041}"/>
              </a:ext>
            </a:extLst>
          </p:cNvPr>
          <p:cNvSpPr>
            <a:spLocks noGrp="1"/>
          </p:cNvSpPr>
          <p:nvPr/>
        </p:nvSpPr>
        <p:spPr>
          <a:xfrm>
            <a:off x="2057400" y="3028950"/>
            <a:ext cx="209550" cy="140970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575D71-E9D6-49D1-BA8B-09FD9B3E6F43}"/>
              </a:ext>
            </a:extLst>
          </p:cNvPr>
          <p:cNvSpPr>
            <a:spLocks noGrp="1"/>
          </p:cNvSpPr>
          <p:nvPr/>
        </p:nvSpPr>
        <p:spPr>
          <a:xfrm>
            <a:off x="2324100" y="3448050"/>
            <a:ext cx="209550" cy="9906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464BFA-0E27-4189-9CA1-18147D0A8527}"/>
              </a:ext>
            </a:extLst>
          </p:cNvPr>
          <p:cNvSpPr>
            <a:spLocks noGrp="1"/>
          </p:cNvSpPr>
          <p:nvPr/>
        </p:nvSpPr>
        <p:spPr>
          <a:xfrm>
            <a:off x="2590800" y="3752850"/>
            <a:ext cx="209550" cy="6858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E6C251-850B-4577-BDA5-097C3CAE162F}"/>
              </a:ext>
            </a:extLst>
          </p:cNvPr>
          <p:cNvSpPr>
            <a:spLocks noGrp="1"/>
          </p:cNvSpPr>
          <p:nvPr/>
        </p:nvSpPr>
        <p:spPr>
          <a:xfrm>
            <a:off x="2857500" y="4076700"/>
            <a:ext cx="209550" cy="3619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24E01B-7EF3-4CE9-A2F7-5751A0E1CBA6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2533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for BMI, attachment loss, height, or weight when you need shape and spread.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348895-3846-408C-B09D-B89B4609C98F}"/>
              </a:ext>
            </a:extLst>
          </p:cNvPr>
          <p:cNvSpPr>
            <a:spLocks noGrp="1"/>
          </p:cNvSpPr>
          <p:nvPr/>
        </p:nvSpPr>
        <p:spPr>
          <a:xfrm>
            <a:off x="5476875" y="3009900"/>
            <a:ext cx="9525" cy="14859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5FD59F-811B-4E89-81A4-C1115F378EA0}"/>
              </a:ext>
            </a:extLst>
          </p:cNvPr>
          <p:cNvSpPr>
            <a:spLocks noGrp="1"/>
          </p:cNvSpPr>
          <p:nvPr/>
        </p:nvSpPr>
        <p:spPr>
          <a:xfrm>
            <a:off x="5219700" y="3448050"/>
            <a:ext cx="514350" cy="704850"/>
          </a:xfrm>
          <a:prstGeom prst="rect">
            <a:avLst/>
          </a:prstGeom>
          <a:solidFill>
            <a:srgbClr val="DCEDEA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61BD2B-3388-47A8-A53C-97441F9C68AF}"/>
              </a:ext>
            </a:extLst>
          </p:cNvPr>
          <p:cNvSpPr>
            <a:spLocks noGrp="1"/>
          </p:cNvSpPr>
          <p:nvPr/>
        </p:nvSpPr>
        <p:spPr>
          <a:xfrm>
            <a:off x="5219700" y="3790950"/>
            <a:ext cx="51435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6689CF-4D78-4993-97B0-38CFD43AD15B}"/>
              </a:ext>
            </a:extLst>
          </p:cNvPr>
          <p:cNvSpPr>
            <a:spLocks noGrp="1"/>
          </p:cNvSpPr>
          <p:nvPr/>
        </p:nvSpPr>
        <p:spPr>
          <a:xfrm>
            <a:off x="5219700" y="3009900"/>
            <a:ext cx="514350" cy="95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ACC6F8-A988-488D-B21E-AF64CC6D4781}"/>
              </a:ext>
            </a:extLst>
          </p:cNvPr>
          <p:cNvSpPr>
            <a:spLocks noGrp="1"/>
          </p:cNvSpPr>
          <p:nvPr/>
        </p:nvSpPr>
        <p:spPr>
          <a:xfrm>
            <a:off x="5219700" y="4152900"/>
            <a:ext cx="514350" cy="95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7FF635-AE92-4A89-9EEC-4775B219A037}"/>
              </a:ext>
            </a:extLst>
          </p:cNvPr>
          <p:cNvSpPr>
            <a:spLocks noGrp="1"/>
          </p:cNvSpPr>
          <p:nvPr/>
        </p:nvSpPr>
        <p:spPr>
          <a:xfrm>
            <a:off x="5410200" y="2895600"/>
            <a:ext cx="133350" cy="133350"/>
          </a:xfrm>
          <a:prstGeom prst="ellipse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683D806-37E8-4907-B8F6-A9D3042A7318}"/>
              </a:ext>
            </a:extLst>
          </p:cNvPr>
          <p:cNvSpPr>
            <a:spLocks noGrp="1"/>
          </p:cNvSpPr>
          <p:nvPr/>
        </p:nvSpPr>
        <p:spPr>
          <a:xfrm>
            <a:off x="5410200" y="4629150"/>
            <a:ext cx="133350" cy="133350"/>
          </a:xfrm>
          <a:prstGeom prst="ellipse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348DDD-3FE4-4410-A8D1-0C6A66E69A02}"/>
              </a:ext>
            </a:extLst>
          </p:cNvPr>
          <p:cNvSpPr>
            <a:spLocks noGrp="1"/>
          </p:cNvSpPr>
          <p:nvPr/>
        </p:nvSpPr>
        <p:spPr>
          <a:xfrm>
            <a:off x="4705350" y="4762500"/>
            <a:ext cx="2438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Boxplots compress the distribution into median, quartiles, whiskers, and possible outliers.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BB58B2-B785-454F-B81F-881A63BFF7E6}"/>
              </a:ext>
            </a:extLst>
          </p:cNvPr>
          <p:cNvSpPr>
            <a:spLocks noGrp="1"/>
          </p:cNvSpPr>
          <p:nvPr/>
        </p:nvSpPr>
        <p:spPr>
          <a:xfrm>
            <a:off x="8724900" y="4438650"/>
            <a:ext cx="2038350" cy="9525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B387E6-5A0D-4A2C-B543-66114E5FB269}"/>
              </a:ext>
            </a:extLst>
          </p:cNvPr>
          <p:cNvSpPr>
            <a:spLocks noGrp="1"/>
          </p:cNvSpPr>
          <p:nvPr/>
        </p:nvSpPr>
        <p:spPr>
          <a:xfrm>
            <a:off x="8724900" y="3238500"/>
            <a:ext cx="9525" cy="120015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9DF532-A781-40AB-BC8A-493662C741FA}"/>
              </a:ext>
            </a:extLst>
          </p:cNvPr>
          <p:cNvSpPr>
            <a:spLocks noGrp="1"/>
          </p:cNvSpPr>
          <p:nvPr/>
        </p:nvSpPr>
        <p:spPr>
          <a:xfrm>
            <a:off x="8724900" y="4438650"/>
            <a:ext cx="203835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7609B9-1D5F-4E6D-938B-2BA8C2F8A839}"/>
              </a:ext>
            </a:extLst>
          </p:cNvPr>
          <p:cNvSpPr>
            <a:spLocks noGrp="1"/>
          </p:cNvSpPr>
          <p:nvPr/>
        </p:nvSpPr>
        <p:spPr>
          <a:xfrm>
            <a:off x="8953500" y="42291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BA0A13A-B6D3-4531-BEC3-8787CDC5A6EE}"/>
              </a:ext>
            </a:extLst>
          </p:cNvPr>
          <p:cNvSpPr>
            <a:spLocks noGrp="1"/>
          </p:cNvSpPr>
          <p:nvPr/>
        </p:nvSpPr>
        <p:spPr>
          <a:xfrm>
            <a:off x="9210675" y="40005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F70B32E-1B2C-49A7-B681-12763A56181C}"/>
              </a:ext>
            </a:extLst>
          </p:cNvPr>
          <p:cNvSpPr>
            <a:spLocks noGrp="1"/>
          </p:cNvSpPr>
          <p:nvPr/>
        </p:nvSpPr>
        <p:spPr>
          <a:xfrm>
            <a:off x="9467850" y="39243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CBFB494-3624-43ED-8396-21487F2A7CFB}"/>
              </a:ext>
            </a:extLst>
          </p:cNvPr>
          <p:cNvSpPr>
            <a:spLocks noGrp="1"/>
          </p:cNvSpPr>
          <p:nvPr/>
        </p:nvSpPr>
        <p:spPr>
          <a:xfrm>
            <a:off x="9725025" y="37719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B147418-1FEC-4CF0-986A-3FA0459DD58B}"/>
              </a:ext>
            </a:extLst>
          </p:cNvPr>
          <p:cNvSpPr>
            <a:spLocks noGrp="1"/>
          </p:cNvSpPr>
          <p:nvPr/>
        </p:nvSpPr>
        <p:spPr>
          <a:xfrm>
            <a:off x="9982200" y="36195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FCE0923-BD51-48B1-8773-4FCBE4D6FC84}"/>
              </a:ext>
            </a:extLst>
          </p:cNvPr>
          <p:cNvSpPr>
            <a:spLocks noGrp="1"/>
          </p:cNvSpPr>
          <p:nvPr/>
        </p:nvSpPr>
        <p:spPr>
          <a:xfrm>
            <a:off x="10239375" y="363855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64ACB4C-0431-4C4E-B3BC-76782BEB657C}"/>
              </a:ext>
            </a:extLst>
          </p:cNvPr>
          <p:cNvSpPr>
            <a:spLocks noGrp="1"/>
          </p:cNvSpPr>
          <p:nvPr/>
        </p:nvSpPr>
        <p:spPr>
          <a:xfrm>
            <a:off x="10496550" y="3314700"/>
            <a:ext cx="95250" cy="95250"/>
          </a:xfrm>
          <a:prstGeom prst="ellipse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D5CD73E-B2CF-4832-AAB5-72896A45DF56}"/>
              </a:ext>
            </a:extLst>
          </p:cNvPr>
          <p:cNvSpPr>
            <a:spLocks noGrp="1"/>
          </p:cNvSpPr>
          <p:nvPr/>
        </p:nvSpPr>
        <p:spPr>
          <a:xfrm>
            <a:off x="8953500" y="4248150"/>
            <a:ext cx="1619250" cy="19050"/>
          </a:xfrm>
          <a:prstGeom prst="rect">
            <a:avLst/>
          </a:prstGeom>
          <a:solidFill>
            <a:srgbClr val="E76F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247220-2624-4E03-8BE0-362DCDF9FAD1}"/>
              </a:ext>
            </a:extLst>
          </p:cNvPr>
          <p:cNvSpPr>
            <a:spLocks noGrp="1"/>
          </p:cNvSpPr>
          <p:nvPr/>
        </p:nvSpPr>
        <p:spPr>
          <a:xfrm>
            <a:off x="8477250" y="4762500"/>
            <a:ext cx="25146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Points close to the diagonal support approximate normality; curved patterns suggest deviations.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BB0E4EA-CA81-497B-834E-103CC5F7E59D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10363200" cy="342900"/>
          </a:xfrm>
          <a:prstGeom prst="rect">
            <a:avLst/>
          </a:prstGeom>
          <a:solidFill>
            <a:srgbClr val="17212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97D29AB-9BD6-442D-B638-71B257146A29}"/>
              </a:ext>
            </a:extLst>
          </p:cNvPr>
          <p:cNvSpPr>
            <a:spLocks noGrp="1"/>
          </p:cNvSpPr>
          <p:nvPr/>
        </p:nvSpPr>
        <p:spPr>
          <a:xfrm>
            <a:off x="895350" y="5781675"/>
            <a:ext cx="971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Interpret first, compute second: a plot can reveal coding errors, outliers, skewness, and impossible values before formal analysis.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BC6724F-53C3-4E33-A9C0-8E12B97BDFA7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110871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9D501E-66D6-436A-BD59-0A14B35714DB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Source: worksheet 1, Practical QB Scientific Work; NHANES 1999-2003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832201-9AF4-4A56-8064-8EC472C42876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028" name="Picture 4" descr="Box plot">
            <a:extLst>
              <a:ext uri="{FF2B5EF4-FFF2-40B4-BE49-F238E27FC236}">
                <a16:creationId xmlns:a16="http://schemas.microsoft.com/office/drawing/2014/main" id="{AB184F03-710C-8E43-32BD-04C5387087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8" t="5922" r="13857" b="4018"/>
          <a:stretch>
            <a:fillRect/>
          </a:stretch>
        </p:blipFill>
        <p:spPr bwMode="auto">
          <a:xfrm>
            <a:off x="4514850" y="2869130"/>
            <a:ext cx="2914650" cy="1893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Quantile-Quantile (QQ) Plot ...">
            <a:extLst>
              <a:ext uri="{FF2B5EF4-FFF2-40B4-BE49-F238E27FC236}">
                <a16:creationId xmlns:a16="http://schemas.microsoft.com/office/drawing/2014/main" id="{6D5F4660-8813-4CEE-37AF-0F7CD811B3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78"/>
          <a:stretch>
            <a:fillRect/>
          </a:stretch>
        </p:blipFill>
        <p:spPr bwMode="auto">
          <a:xfrm>
            <a:off x="8277225" y="2762250"/>
            <a:ext cx="29718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" descr="Box plot">
            <a:extLst>
              <a:ext uri="{FF2B5EF4-FFF2-40B4-BE49-F238E27FC236}">
                <a16:creationId xmlns:a16="http://schemas.microsoft.com/office/drawing/2014/main" id="{98463281-C86E-227D-162F-1055C0FD0D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02" t="85109" r="1064" b="-60"/>
          <a:stretch>
            <a:fillRect/>
          </a:stretch>
        </p:blipFill>
        <p:spPr bwMode="auto">
          <a:xfrm>
            <a:off x="6781801" y="4414838"/>
            <a:ext cx="571497" cy="314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50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5EA8A894-ED2C-4DD5-A5AF-32DC100634B2}"/>
              </a:ext>
            </a:extLst>
          </p:cNvPr>
          <p:cNvSpPr>
            <a:spLocks noGrp="1"/>
          </p:cNvSpPr>
          <p:nvPr/>
        </p:nvSpPr>
        <p:spPr>
          <a:xfrm>
            <a:off x="-2702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A2E3D524-D7E9-4DAA-A331-63669BA09E10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47625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3141FFDB-0F6C-44A9-BC22-F35B025F91BE}"/>
              </a:ext>
            </a:extLst>
          </p:cNvPr>
          <p:cNvSpPr>
            <a:spLocks noGrp="1"/>
          </p:cNvSpPr>
          <p:nvPr/>
        </p:nvSpPr>
        <p:spPr>
          <a:xfrm>
            <a:off x="704850" y="4762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17A"/>
                </a:solidFill>
                <a:latin typeface="Aptos"/>
                <a:ea typeface="Aptos"/>
                <a:cs typeface="Aptos"/>
              </a:rPr>
              <a:t>TWO CATEGORICAL VARIABLES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16A4A9-8AA3-474F-BF21-6E23DDD66F31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8763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crosstab turns diabetes and periodontitis into conditional risks.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3126FC-6266-4FB3-A708-96B9C110E6B3}"/>
              </a:ext>
            </a:extLst>
          </p:cNvPr>
          <p:cNvSpPr>
            <a:spLocks noGrp="1"/>
          </p:cNvSpPr>
          <p:nvPr/>
        </p:nvSpPr>
        <p:spPr>
          <a:xfrm>
            <a:off x="1104900" y="2038350"/>
            <a:ext cx="1619250" cy="685800"/>
          </a:xfrm>
          <a:prstGeom prst="rect">
            <a:avLst/>
          </a:prstGeom>
          <a:solidFill>
            <a:srgbClr val="17212B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B5418-6FF1-4182-B71C-F8BADB8D26E3}"/>
              </a:ext>
            </a:extLst>
          </p:cNvPr>
          <p:cNvSpPr>
            <a:spLocks noGrp="1"/>
          </p:cNvSpPr>
          <p:nvPr/>
        </p:nvSpPr>
        <p:spPr>
          <a:xfrm>
            <a:off x="1238250" y="22479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0BBB7-6C96-4335-A91F-8D492C2F8222}"/>
              </a:ext>
            </a:extLst>
          </p:cNvPr>
          <p:cNvSpPr>
            <a:spLocks noGrp="1"/>
          </p:cNvSpPr>
          <p:nvPr/>
        </p:nvSpPr>
        <p:spPr>
          <a:xfrm>
            <a:off x="2724150" y="2038350"/>
            <a:ext cx="1619250" cy="685800"/>
          </a:xfrm>
          <a:prstGeom prst="rect">
            <a:avLst/>
          </a:prstGeom>
          <a:solidFill>
            <a:srgbClr val="17212B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03E8D7-FA4F-422C-B547-F8AB4748DA4F}"/>
              </a:ext>
            </a:extLst>
          </p:cNvPr>
          <p:cNvSpPr>
            <a:spLocks noGrp="1"/>
          </p:cNvSpPr>
          <p:nvPr/>
        </p:nvSpPr>
        <p:spPr>
          <a:xfrm>
            <a:off x="2857500" y="22479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Periodontitis yes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76288C-4779-414D-82B4-F0CD94B6298E}"/>
              </a:ext>
            </a:extLst>
          </p:cNvPr>
          <p:cNvSpPr>
            <a:spLocks noGrp="1"/>
          </p:cNvSpPr>
          <p:nvPr/>
        </p:nvSpPr>
        <p:spPr>
          <a:xfrm>
            <a:off x="4343400" y="2038350"/>
            <a:ext cx="1619250" cy="685800"/>
          </a:xfrm>
          <a:prstGeom prst="rect">
            <a:avLst/>
          </a:prstGeom>
          <a:solidFill>
            <a:srgbClr val="17212B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1F68D7-BFC8-4E7A-8185-B961444D4325}"/>
              </a:ext>
            </a:extLst>
          </p:cNvPr>
          <p:cNvSpPr>
            <a:spLocks noGrp="1"/>
          </p:cNvSpPr>
          <p:nvPr/>
        </p:nvSpPr>
        <p:spPr>
          <a:xfrm>
            <a:off x="4476750" y="22479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Periodontitis no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8BCD26-48F5-4E09-92FD-96962C2A8EC2}"/>
              </a:ext>
            </a:extLst>
          </p:cNvPr>
          <p:cNvSpPr>
            <a:spLocks noGrp="1"/>
          </p:cNvSpPr>
          <p:nvPr/>
        </p:nvSpPr>
        <p:spPr>
          <a:xfrm>
            <a:off x="5962650" y="2038350"/>
            <a:ext cx="1619250" cy="685800"/>
          </a:xfrm>
          <a:prstGeom prst="rect">
            <a:avLst/>
          </a:prstGeom>
          <a:solidFill>
            <a:srgbClr val="17212B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33DED6-E6E3-4D37-81A3-09C41F363FF8}"/>
              </a:ext>
            </a:extLst>
          </p:cNvPr>
          <p:cNvSpPr>
            <a:spLocks noGrp="1"/>
          </p:cNvSpPr>
          <p:nvPr/>
        </p:nvSpPr>
        <p:spPr>
          <a:xfrm>
            <a:off x="6096000" y="22479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Row total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1E5C8C-8033-4918-836F-2AC7D9F721AC}"/>
              </a:ext>
            </a:extLst>
          </p:cNvPr>
          <p:cNvSpPr>
            <a:spLocks noGrp="1"/>
          </p:cNvSpPr>
          <p:nvPr/>
        </p:nvSpPr>
        <p:spPr>
          <a:xfrm>
            <a:off x="1104900" y="2724150"/>
            <a:ext cx="1619250" cy="685800"/>
          </a:xfrm>
          <a:prstGeom prst="rect">
            <a:avLst/>
          </a:prstGeom>
          <a:solidFill>
            <a:srgbClr val="17212B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BC0C21-7AC5-47BC-BF42-8AF81CC06651}"/>
              </a:ext>
            </a:extLst>
          </p:cNvPr>
          <p:cNvSpPr>
            <a:spLocks noGrp="1"/>
          </p:cNvSpPr>
          <p:nvPr/>
        </p:nvSpPr>
        <p:spPr>
          <a:xfrm>
            <a:off x="1238250" y="29337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Diabetes</a:t>
            </a:r>
            <a:r>
              <a:rPr lang="en-GB"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yes</a:t>
            </a:r>
            <a:endParaRPr sz="12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255706-ABF3-45F5-AE40-49406B72F4FD}"/>
              </a:ext>
            </a:extLst>
          </p:cNvPr>
          <p:cNvSpPr>
            <a:spLocks noGrp="1"/>
          </p:cNvSpPr>
          <p:nvPr/>
        </p:nvSpPr>
        <p:spPr>
          <a:xfrm>
            <a:off x="2724150" y="2724150"/>
            <a:ext cx="1619250" cy="685800"/>
          </a:xfrm>
          <a:prstGeom prst="rect">
            <a:avLst/>
          </a:prstGeom>
          <a:solidFill>
            <a:srgbClr val="DCEDEA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CFE3C6-0A4A-428A-BB17-0476289E1561}"/>
              </a:ext>
            </a:extLst>
          </p:cNvPr>
          <p:cNvSpPr>
            <a:spLocks noGrp="1"/>
          </p:cNvSpPr>
          <p:nvPr/>
        </p:nvSpPr>
        <p:spPr>
          <a:xfrm>
            <a:off x="2857500" y="29337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886127-C407-47A7-B7E3-7100C5815656}"/>
              </a:ext>
            </a:extLst>
          </p:cNvPr>
          <p:cNvSpPr>
            <a:spLocks noGrp="1"/>
          </p:cNvSpPr>
          <p:nvPr/>
        </p:nvSpPr>
        <p:spPr>
          <a:xfrm>
            <a:off x="4343400" y="2724150"/>
            <a:ext cx="1619250" cy="685800"/>
          </a:xfrm>
          <a:prstGeom prst="rect">
            <a:avLst/>
          </a:prstGeom>
          <a:solidFill>
            <a:srgbClr val="DCEDEA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4E9BD4-4C92-463B-98D5-71BDE8F40685}"/>
              </a:ext>
            </a:extLst>
          </p:cNvPr>
          <p:cNvSpPr>
            <a:spLocks noGrp="1"/>
          </p:cNvSpPr>
          <p:nvPr/>
        </p:nvSpPr>
        <p:spPr>
          <a:xfrm>
            <a:off x="4476750" y="29337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852154-BFCE-477C-8B60-7E49532C6A80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1619250" cy="685800"/>
          </a:xfrm>
          <a:prstGeom prst="rect">
            <a:avLst/>
          </a:prstGeom>
          <a:solidFill>
            <a:srgbClr val="DCEDEA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585B78-B810-4FBE-A27E-A1714777B8D2}"/>
              </a:ext>
            </a:extLst>
          </p:cNvPr>
          <p:cNvSpPr>
            <a:spLocks noGrp="1"/>
          </p:cNvSpPr>
          <p:nvPr/>
        </p:nvSpPr>
        <p:spPr>
          <a:xfrm>
            <a:off x="6096000" y="29337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 + 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728D37-58E4-444D-A211-2ABC86BBE919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619250" cy="685800"/>
          </a:xfrm>
          <a:prstGeom prst="rect">
            <a:avLst/>
          </a:prstGeom>
          <a:solidFill>
            <a:srgbClr val="17212B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09C04F7-26E9-4D6B-8184-C4D6FB962BFE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Diabetes no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C9C01C-4F65-4A50-A2C2-9AC14FBC72FF}"/>
              </a:ext>
            </a:extLst>
          </p:cNvPr>
          <p:cNvSpPr>
            <a:spLocks noGrp="1"/>
          </p:cNvSpPr>
          <p:nvPr/>
        </p:nvSpPr>
        <p:spPr>
          <a:xfrm>
            <a:off x="2724150" y="34099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039FE5A-86A5-470D-85AE-4FF2D4047975}"/>
              </a:ext>
            </a:extLst>
          </p:cNvPr>
          <p:cNvSpPr>
            <a:spLocks noGrp="1"/>
          </p:cNvSpPr>
          <p:nvPr/>
        </p:nvSpPr>
        <p:spPr>
          <a:xfrm>
            <a:off x="2857500" y="36195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F96FDD-37AC-4C6E-B3EF-3E8B3420FA03}"/>
              </a:ext>
            </a:extLst>
          </p:cNvPr>
          <p:cNvSpPr>
            <a:spLocks noGrp="1"/>
          </p:cNvSpPr>
          <p:nvPr/>
        </p:nvSpPr>
        <p:spPr>
          <a:xfrm>
            <a:off x="4343400" y="34099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2BA0A8-CCB2-46B2-B024-6B30618A2D2F}"/>
              </a:ext>
            </a:extLst>
          </p:cNvPr>
          <p:cNvSpPr>
            <a:spLocks noGrp="1"/>
          </p:cNvSpPr>
          <p:nvPr/>
        </p:nvSpPr>
        <p:spPr>
          <a:xfrm>
            <a:off x="4476750" y="36195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C0FD5A-DDB9-473E-90F3-9875959BA6A7}"/>
              </a:ext>
            </a:extLst>
          </p:cNvPr>
          <p:cNvSpPr>
            <a:spLocks noGrp="1"/>
          </p:cNvSpPr>
          <p:nvPr/>
        </p:nvSpPr>
        <p:spPr>
          <a:xfrm>
            <a:off x="5962650" y="34099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00099C-2C16-47E6-8DB8-48A2A3D0FE12}"/>
              </a:ext>
            </a:extLst>
          </p:cNvPr>
          <p:cNvSpPr>
            <a:spLocks noGrp="1"/>
          </p:cNvSpPr>
          <p:nvPr/>
        </p:nvSpPr>
        <p:spPr>
          <a:xfrm>
            <a:off x="6096000" y="36195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c + 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DBFCB3-CEB8-4282-B209-30B83EE54F9E}"/>
              </a:ext>
            </a:extLst>
          </p:cNvPr>
          <p:cNvSpPr>
            <a:spLocks noGrp="1"/>
          </p:cNvSpPr>
          <p:nvPr/>
        </p:nvSpPr>
        <p:spPr>
          <a:xfrm>
            <a:off x="1104900" y="4095750"/>
            <a:ext cx="1619250" cy="685800"/>
          </a:xfrm>
          <a:prstGeom prst="rect">
            <a:avLst/>
          </a:prstGeom>
          <a:solidFill>
            <a:srgbClr val="17212B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EBCD89F-24F8-4513-9BED-74AB8612BC11}"/>
              </a:ext>
            </a:extLst>
          </p:cNvPr>
          <p:cNvSpPr>
            <a:spLocks noGrp="1"/>
          </p:cNvSpPr>
          <p:nvPr/>
        </p:nvSpPr>
        <p:spPr>
          <a:xfrm>
            <a:off x="1238250" y="43053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Column total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060768F-56B4-4290-95C5-2B1C7A42A6BE}"/>
              </a:ext>
            </a:extLst>
          </p:cNvPr>
          <p:cNvSpPr>
            <a:spLocks noGrp="1"/>
          </p:cNvSpPr>
          <p:nvPr/>
        </p:nvSpPr>
        <p:spPr>
          <a:xfrm>
            <a:off x="2724150" y="40957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E8E4573-2C6E-40F5-844C-A0F4FCBF56C4}"/>
              </a:ext>
            </a:extLst>
          </p:cNvPr>
          <p:cNvSpPr>
            <a:spLocks noGrp="1"/>
          </p:cNvSpPr>
          <p:nvPr/>
        </p:nvSpPr>
        <p:spPr>
          <a:xfrm>
            <a:off x="2857500" y="43053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 + c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D3630E-803F-48EE-B346-657D753FC494}"/>
              </a:ext>
            </a:extLst>
          </p:cNvPr>
          <p:cNvSpPr>
            <a:spLocks noGrp="1"/>
          </p:cNvSpPr>
          <p:nvPr/>
        </p:nvSpPr>
        <p:spPr>
          <a:xfrm>
            <a:off x="4343400" y="40957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9F4078-C114-4634-A3FE-39B81683616A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b + 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649FCA5-8716-4B53-9BE5-6EAC435CC52F}"/>
              </a:ext>
            </a:extLst>
          </p:cNvPr>
          <p:cNvSpPr>
            <a:spLocks noGrp="1"/>
          </p:cNvSpPr>
          <p:nvPr/>
        </p:nvSpPr>
        <p:spPr>
          <a:xfrm>
            <a:off x="5962650" y="409575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97C363-B44F-4966-832F-1935BAB6818E}"/>
              </a:ext>
            </a:extLst>
          </p:cNvPr>
          <p:cNvSpPr>
            <a:spLocks noGrp="1"/>
          </p:cNvSpPr>
          <p:nvPr/>
        </p:nvSpPr>
        <p:spPr>
          <a:xfrm>
            <a:off x="6096000" y="4305300"/>
            <a:ext cx="1352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725" b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D1986A-7514-4310-B367-AFBB5908FA11}"/>
              </a:ext>
            </a:extLst>
          </p:cNvPr>
          <p:cNvSpPr>
            <a:spLocks noGrp="1"/>
          </p:cNvSpPr>
          <p:nvPr/>
        </p:nvSpPr>
        <p:spPr>
          <a:xfrm>
            <a:off x="1104900" y="5219700"/>
            <a:ext cx="771525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2544A7-ADC0-4993-B668-0C3B791453E3}"/>
              </a:ext>
            </a:extLst>
          </p:cNvPr>
          <p:cNvSpPr>
            <a:spLocks noGrp="1"/>
          </p:cNvSpPr>
          <p:nvPr/>
        </p:nvSpPr>
        <p:spPr>
          <a:xfrm>
            <a:off x="1257300" y="5410200"/>
            <a:ext cx="809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SPSS path: Analyze -&gt; Descriptive Statistics -&gt; Crosstabs. In Cells, request row percentages. In Statistics, select Risk.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B0DB63-2F5B-4A3C-98ED-F1CF178DCA8F}"/>
              </a:ext>
            </a:extLst>
          </p:cNvPr>
          <p:cNvSpPr>
            <a:spLocks noGrp="1"/>
          </p:cNvSpPr>
          <p:nvPr/>
        </p:nvSpPr>
        <p:spPr>
          <a:xfrm>
            <a:off x="1257300" y="5829300"/>
            <a:ext cx="685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A useful convention is to put the outcome across the top and the exposure in rows.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3931830-5587-4812-9FD4-C9EDC40DBA20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110871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D56E8C-7A12-4581-9938-2DBCDE6E8802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Source: worksheet 1, Practical QB Scientific Work; NHANES 1999-2003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BCB185-16AB-4AD3-A63C-36F92C467860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9148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F97E193-64DE-4BB1-B57A-11D7629B9336}"/>
              </a:ext>
            </a:extLst>
          </p:cNvPr>
          <p:cNvSpPr>
            <a:spLocks noGrp="1"/>
          </p:cNvSpPr>
          <p:nvPr/>
        </p:nvSpPr>
        <p:spPr>
          <a:xfrm>
            <a:off x="-2475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4F7CA57E-517E-4CDD-BDBC-B7F739304D93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47625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34505F15-FEB3-4CF4-A67E-C3A56C2E3D38}"/>
              </a:ext>
            </a:extLst>
          </p:cNvPr>
          <p:cNvSpPr>
            <a:spLocks noGrp="1"/>
          </p:cNvSpPr>
          <p:nvPr/>
        </p:nvSpPr>
        <p:spPr>
          <a:xfrm>
            <a:off x="704850" y="4762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17A"/>
                </a:solidFill>
                <a:latin typeface="Aptos"/>
                <a:ea typeface="Aptos"/>
                <a:cs typeface="Aptos"/>
              </a:rPr>
              <a:t>RISK MEASURES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9A72C9-021A-4299-8CBB-8FA41F5DDDA8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7620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Difference, ratio, and odds answer three different association questions.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3B2B59-B23C-411D-8D82-671A15F20895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2000250" cy="838200"/>
          </a:xfrm>
          <a:prstGeom prst="rect">
            <a:avLst/>
          </a:prstGeom>
          <a:solidFill>
            <a:srgbClr val="DCEDEA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186E1-BCA7-449E-AE2F-CF373631AAAA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Risk difference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3F7A20-867C-4CE9-8E17-9364349A1D19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How many percentage points higher or lower?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61969F-AF05-4971-B316-8822F8E43234}"/>
              </a:ext>
            </a:extLst>
          </p:cNvPr>
          <p:cNvSpPr>
            <a:spLocks noGrp="1"/>
          </p:cNvSpPr>
          <p:nvPr/>
        </p:nvSpPr>
        <p:spPr>
          <a:xfrm>
            <a:off x="3086100" y="1924050"/>
            <a:ext cx="4000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 lIns="152400" tIns="133350" rIns="152400" bIns="133350" anchor="t"/>
          <a:lstStyle/>
          <a:p>
            <a:pPr algn="l">
              <a:defRPr sz="12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RD = </a:t>
            </a:r>
            <a:r>
              <a:rPr lang="en-DE" sz="1275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a/(</a:t>
            </a:r>
            <a:r>
              <a:rPr sz="1275" b="0" dirty="0" err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a+b</a:t>
            </a:r>
            <a:r>
              <a:rPr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)</a:t>
            </a:r>
            <a:r>
              <a:rPr lang="es-ES"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]</a:t>
            </a:r>
            <a:r>
              <a:rPr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en-DE"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–</a:t>
            </a:r>
            <a:r>
              <a:rPr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 </a:t>
            </a:r>
            <a:r>
              <a:rPr lang="es-ES"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c/(</a:t>
            </a:r>
            <a:r>
              <a:rPr sz="1275" b="0" dirty="0" err="1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c+d</a:t>
            </a:r>
            <a:r>
              <a:rPr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)</a:t>
            </a:r>
            <a:r>
              <a:rPr lang="es-ES" sz="1275" b="0" dirty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]</a:t>
            </a:r>
            <a:endParaRPr sz="1275" b="0" dirty="0">
              <a:solidFill>
                <a:srgbClr val="17212B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AE9A69-E8D7-465D-9435-C06329678EDD}"/>
              </a:ext>
            </a:extLst>
          </p:cNvPr>
          <p:cNvSpPr>
            <a:spLocks noGrp="1"/>
          </p:cNvSpPr>
          <p:nvPr/>
        </p:nvSpPr>
        <p:spPr>
          <a:xfrm>
            <a:off x="7524750" y="2057400"/>
            <a:ext cx="27241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484B27-17CB-4851-9C81-CC54B20476A3}"/>
              </a:ext>
            </a:extLst>
          </p:cNvPr>
          <p:cNvSpPr>
            <a:spLocks noGrp="1"/>
          </p:cNvSpPr>
          <p:nvPr/>
        </p:nvSpPr>
        <p:spPr>
          <a:xfrm>
            <a:off x="7734300" y="220027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Use percentage points, not percent.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2A97D4-942D-4296-B032-8168F372D848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000250" cy="838200"/>
          </a:xfrm>
          <a:prstGeom prst="rect">
            <a:avLst/>
          </a:prstGeom>
          <a:solidFill>
            <a:srgbClr val="F8DDD4"/>
          </a:solidFill>
          <a:ln w="9525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A882C0-FED3-4A01-B5EF-0D11AE96DD58}"/>
              </a:ext>
            </a:extLst>
          </p:cNvPr>
          <p:cNvSpPr>
            <a:spLocks noGrp="1"/>
          </p:cNvSpPr>
          <p:nvPr/>
        </p:nvSpPr>
        <p:spPr>
          <a:xfrm>
            <a:off x="8953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76F51"/>
                </a:solidFill>
                <a:latin typeface="Aptos Display"/>
                <a:ea typeface="Aptos Display"/>
                <a:cs typeface="Aptos Display"/>
              </a:rPr>
              <a:t>Relative risk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A00A98-E620-49B5-A312-35986820A04E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How many times as high is the risk?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CDE31-129E-46CD-B8A4-D6DAEA15A558}"/>
              </a:ext>
            </a:extLst>
          </p:cNvPr>
          <p:cNvSpPr>
            <a:spLocks noGrp="1"/>
          </p:cNvSpPr>
          <p:nvPr/>
        </p:nvSpPr>
        <p:spPr>
          <a:xfrm>
            <a:off x="3086100" y="3181350"/>
            <a:ext cx="4000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 lIns="152400" tIns="133350" rIns="152400" bIns="133350" anchor="t"/>
          <a:lstStyle/>
          <a:p>
            <a:pPr algn="l">
              <a:defRPr sz="12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RR = [a/(a+b)] / [c/(c+d)]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DF27D0-DC1A-4D8F-9677-46BC9A727D10}"/>
              </a:ext>
            </a:extLst>
          </p:cNvPr>
          <p:cNvSpPr>
            <a:spLocks noGrp="1"/>
          </p:cNvSpPr>
          <p:nvPr/>
        </p:nvSpPr>
        <p:spPr>
          <a:xfrm>
            <a:off x="7524750" y="3314700"/>
            <a:ext cx="27241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5E6D12-8FE9-4F60-802A-C07973D0C6E4}"/>
              </a:ext>
            </a:extLst>
          </p:cNvPr>
          <p:cNvSpPr>
            <a:spLocks noGrp="1"/>
          </p:cNvSpPr>
          <p:nvPr/>
        </p:nvSpPr>
        <p:spPr>
          <a:xfrm>
            <a:off x="7734300" y="345757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RR = 1 means no association.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ADB023-7826-41E0-8F85-39BF7C967E71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000250" cy="838200"/>
          </a:xfrm>
          <a:prstGeom prst="rect">
            <a:avLst/>
          </a:prstGeom>
          <a:solidFill>
            <a:srgbClr val="F2E6B8"/>
          </a:solidFill>
          <a:ln w="9525">
            <a:solidFill>
              <a:srgbClr val="C9970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0B54D9-3FC0-4F27-8F91-385EA73D91DE}"/>
              </a:ext>
            </a:extLst>
          </p:cNvPr>
          <p:cNvSpPr>
            <a:spLocks noGrp="1"/>
          </p:cNvSpPr>
          <p:nvPr/>
        </p:nvSpPr>
        <p:spPr>
          <a:xfrm>
            <a:off x="895350" y="46101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C99700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C99700"/>
                </a:solidFill>
                <a:latin typeface="Aptos Display"/>
                <a:ea typeface="Aptos Display"/>
                <a:cs typeface="Aptos Display"/>
              </a:rPr>
              <a:t>Odds ratio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0213D7-4F15-4DA6-A93B-5F249B66A2D5}"/>
              </a:ext>
            </a:extLst>
          </p:cNvPr>
          <p:cNvSpPr>
            <a:spLocks noGrp="1"/>
          </p:cNvSpPr>
          <p:nvPr/>
        </p:nvSpPr>
        <p:spPr>
          <a:xfrm>
            <a:off x="895350" y="4933950"/>
            <a:ext cx="1562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7212B"/>
                </a:solidFill>
                <a:latin typeface="Aptos"/>
                <a:ea typeface="Aptos"/>
                <a:cs typeface="Aptos"/>
              </a:rPr>
              <a:t>How many times as high are the odds?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A0915F-E642-420D-82A0-AA4668D9D7EB}"/>
              </a:ext>
            </a:extLst>
          </p:cNvPr>
          <p:cNvSpPr>
            <a:spLocks noGrp="1"/>
          </p:cNvSpPr>
          <p:nvPr/>
        </p:nvSpPr>
        <p:spPr>
          <a:xfrm>
            <a:off x="3086100" y="4438650"/>
            <a:ext cx="4000500" cy="838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 lIns="152400" tIns="133350" rIns="152400" bIns="133350" anchor="t"/>
          <a:lstStyle/>
          <a:p>
            <a:pPr algn="l">
              <a:defRPr sz="1275" b="0">
                <a:solidFill>
                  <a:srgbClr val="17212B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17212B"/>
                </a:solidFill>
                <a:latin typeface="Aptos Mono"/>
                <a:ea typeface="Aptos Mono"/>
                <a:cs typeface="Aptos Mono"/>
              </a:rPr>
              <a:t>OR = (a/b) / (c/d) = ad/bc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72BE04-B55C-49B4-BCEB-1085390A2AF5}"/>
              </a:ext>
            </a:extLst>
          </p:cNvPr>
          <p:cNvSpPr>
            <a:spLocks noGrp="1"/>
          </p:cNvSpPr>
          <p:nvPr/>
        </p:nvSpPr>
        <p:spPr>
          <a:xfrm>
            <a:off x="7524750" y="4572000"/>
            <a:ext cx="272415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CEC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97F1BC-0B6C-46B3-9446-38704AE292F8}"/>
              </a:ext>
            </a:extLst>
          </p:cNvPr>
          <p:cNvSpPr>
            <a:spLocks noGrp="1"/>
          </p:cNvSpPr>
          <p:nvPr/>
        </p:nvSpPr>
        <p:spPr>
          <a:xfrm>
            <a:off x="7734300" y="471487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OR approximates RR only for rare outcomes.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19B3E0-14FC-40F6-A5BB-4CD15DAE445D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96012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D767F2-A45A-45E6-B960-6E5C49F0098A}"/>
              </a:ext>
            </a:extLst>
          </p:cNvPr>
          <p:cNvSpPr>
            <a:spLocks noGrp="1"/>
          </p:cNvSpPr>
          <p:nvPr/>
        </p:nvSpPr>
        <p:spPr>
          <a:xfrm>
            <a:off x="819150" y="5981700"/>
            <a:ext cx="847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Hand-check SPSS: subtract row percentages for RD, divide row percentages for RR, and verify the odds ratio from the four table cells.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E9305D-24A6-476B-989B-CC463E02FDD6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110871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4AAA66-CDF6-4002-BA9B-513E4A26FB4D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Source: worksheet 1, Practical QB Scientific Work; NHANES 1999-2003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6CB6ED-DAEF-4C40-974D-EDF77A32D557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83180F4-DEED-2FF4-319B-595E740E38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165481"/>
            <a:ext cx="4014600" cy="178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18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4B29C462-4EA4-490A-BDD9-B319DAD1CC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kicker-01-marker">
            <a:extLst>
              <a:ext uri="{FF2B5EF4-FFF2-40B4-BE49-F238E27FC236}">
                <a16:creationId xmlns:a16="http://schemas.microsoft.com/office/drawing/2014/main" id="{CA196A68-5C5A-4789-A0FB-15C941B1C218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47625" cy="1714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kicker-01-label">
            <a:extLst>
              <a:ext uri="{FF2B5EF4-FFF2-40B4-BE49-F238E27FC236}">
                <a16:creationId xmlns:a16="http://schemas.microsoft.com/office/drawing/2014/main" id="{40C04E90-547E-419E-8E6F-871F80D8D927}"/>
              </a:ext>
            </a:extLst>
          </p:cNvPr>
          <p:cNvSpPr>
            <a:spLocks noGrp="1"/>
          </p:cNvSpPr>
          <p:nvPr/>
        </p:nvSpPr>
        <p:spPr>
          <a:xfrm>
            <a:off x="704850" y="47625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88" b="1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4717A"/>
                </a:solidFill>
                <a:latin typeface="Aptos"/>
                <a:ea typeface="Aptos"/>
                <a:cs typeface="Aptos"/>
              </a:rPr>
              <a:t>QUANTITATIVE ASSOCIATION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5D1B1-7959-4BA5-8C9C-92CEC538CF0E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8858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A scatterplot shows the relationship before a coefficient compresses it.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074A07-5829-424B-A15A-9CFA59E9635C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11087100" cy="9525"/>
          </a:xfrm>
          <a:prstGeom prst="rect">
            <a:avLst/>
          </a:prstGeom>
          <a:solidFill>
            <a:srgbClr val="D6CE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DA213B-141C-4680-8497-C144513BCC5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7810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800" b="0" dirty="0">
                <a:solidFill>
                  <a:srgbClr val="64717A"/>
                </a:solidFill>
                <a:latin typeface="Aptos"/>
                <a:ea typeface="Aptos"/>
                <a:cs typeface="Aptos"/>
              </a:rPr>
              <a:t>Source: </a:t>
            </a:r>
            <a:r>
              <a:rPr lang="en-US" sz="800" dirty="0">
                <a:solidFill>
                  <a:srgbClr val="64717A"/>
                </a:solidFill>
                <a:latin typeface="Aptos"/>
                <a:ea typeface="Aptos"/>
                <a:cs typeface="Aptos"/>
              </a:rPr>
              <a:t>CQE Academy (2021)</a:t>
            </a:r>
            <a:endParaRPr sz="800" b="0" dirty="0">
              <a:solidFill>
                <a:srgbClr val="6471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F7AF62-8822-408F-92C7-8FFAB8195F6A}"/>
              </a:ext>
            </a:extLst>
          </p:cNvPr>
          <p:cNvSpPr>
            <a:spLocks noGrp="1"/>
          </p:cNvSpPr>
          <p:nvPr/>
        </p:nvSpPr>
        <p:spPr>
          <a:xfrm>
            <a:off x="11239500" y="64960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64717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471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2052" name="Picture 4" descr="Basics of Applied Statistics. ✓Scatter plot is a graph with points… | by  Merwa Atif | Medium">
            <a:extLst>
              <a:ext uri="{FF2B5EF4-FFF2-40B4-BE49-F238E27FC236}">
                <a16:creationId xmlns:a16="http://schemas.microsoft.com/office/drawing/2014/main" id="{0E2E33F8-9AA5-6F08-5A9E-1F373D37D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563" y="2267000"/>
            <a:ext cx="10022958" cy="290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52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E081B9-B3A1-7856-E4BE-7E76B0C093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074" name="Picture 2" descr="The Biggest Limitation of Pearson Correlation Which Many Overlook">
            <a:extLst>
              <a:ext uri="{FF2B5EF4-FFF2-40B4-BE49-F238E27FC236}">
                <a16:creationId xmlns:a16="http://schemas.microsoft.com/office/drawing/2014/main" id="{F131CC0A-F4A1-D1E0-0E30-92D1053526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4"/>
          <a:stretch>
            <a:fillRect/>
          </a:stretch>
        </p:blipFill>
        <p:spPr bwMode="auto">
          <a:xfrm>
            <a:off x="291068" y="1459344"/>
            <a:ext cx="5451106" cy="44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FBAC757E-09E6-BE97-C2EB-EF2A21C93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9828" y="1859340"/>
            <a:ext cx="493660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DE" altLang="en-DE" sz="1200" dirty="0">
                <a:solidFill>
                  <a:srgbClr val="17212B"/>
                </a:solidFill>
                <a:latin typeface="Aptos"/>
              </a:rPr>
              <a:t>Use </a:t>
            </a:r>
            <a:r>
              <a:rPr lang="en-DE" altLang="en-DE" sz="1200" b="1" dirty="0">
                <a:solidFill>
                  <a:srgbClr val="17212B"/>
                </a:solidFill>
                <a:latin typeface="Aptos"/>
              </a:rPr>
              <a:t>Pearson correlation </a:t>
            </a:r>
            <a:r>
              <a:rPr lang="en-DE" altLang="en-DE" sz="1200" dirty="0">
                <a:solidFill>
                  <a:srgbClr val="17212B"/>
                </a:solidFill>
                <a:latin typeface="Aptos"/>
              </a:rPr>
              <a:t>when your goal is to measure a linear relationship between two continuous variables under fairly standard statistical assumptions: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17212B"/>
                </a:solidFill>
                <a:latin typeface="Aptos"/>
              </a:rPr>
              <a:t>Variables are continuous.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17212B"/>
                </a:solidFill>
                <a:latin typeface="Aptos"/>
              </a:rPr>
              <a:t>Relationship is roughly linear.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17212B"/>
                </a:solidFill>
                <a:latin typeface="Aptos"/>
              </a:rPr>
              <a:t>The distribution is not strongly skewed and doesn’t include extreme outliers.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0F93775-C0F8-DCCF-83D6-0F50D918E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9828" y="3933219"/>
            <a:ext cx="49366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DE" sz="1200" dirty="0">
                <a:solidFill>
                  <a:srgbClr val="17212B"/>
                </a:solidFill>
                <a:latin typeface="Aptos"/>
              </a:rPr>
              <a:t>The </a:t>
            </a:r>
            <a:r>
              <a:rPr lang="en-DE" sz="1200" b="1" dirty="0">
                <a:solidFill>
                  <a:srgbClr val="17212B"/>
                </a:solidFill>
                <a:latin typeface="Aptos"/>
              </a:rPr>
              <a:t>Spearman’s </a:t>
            </a:r>
            <a:r>
              <a:rPr lang="en-DE" sz="1200" dirty="0">
                <a:solidFill>
                  <a:srgbClr val="17212B"/>
                </a:solidFill>
                <a:latin typeface="Aptos"/>
              </a:rPr>
              <a:t>test can be used to analyse ordinal level, as well as continuous level data, because it uses ranks instead of assumptions of normality.</a:t>
            </a:r>
          </a:p>
          <a:p>
            <a:pPr lvl="0"/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731CC2-10F4-2DD2-73AF-BEE9ED54F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9828" y="4764216"/>
            <a:ext cx="520995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DE" altLang="en-DE" sz="1200" dirty="0">
                <a:solidFill>
                  <a:srgbClr val="17212B"/>
                </a:solidFill>
                <a:latin typeface="Aptos"/>
              </a:rPr>
              <a:t>Spearman correlation is helpful when the data or relationship does not fit Pearson’s assumptions: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17212B"/>
                </a:solidFill>
                <a:latin typeface="Aptos"/>
              </a:rPr>
              <a:t>Ordinal or rank-based data. 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17212B"/>
                </a:solidFill>
                <a:latin typeface="Aptos"/>
              </a:rPr>
              <a:t>Monotonic relationships that may not be linear. 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DE" altLang="en-DE" sz="1200" dirty="0">
                <a:solidFill>
                  <a:srgbClr val="17212B"/>
                </a:solidFill>
                <a:latin typeface="Aptos"/>
              </a:rPr>
              <a:t>Non-normal or skewed distributions or outliers sensitive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DE" altLang="en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DCF82B-B2F5-A64E-F911-CF992E03C982}"/>
              </a:ext>
            </a:extLst>
          </p:cNvPr>
          <p:cNvSpPr>
            <a:spLocks noGrp="1"/>
          </p:cNvSpPr>
          <p:nvPr/>
        </p:nvSpPr>
        <p:spPr>
          <a:xfrm>
            <a:off x="478022" y="274231"/>
            <a:ext cx="8858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255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Pearson vs Spearman correlation</a:t>
            </a:r>
            <a:r>
              <a:rPr sz="2550" b="1" dirty="0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pic>
        <p:nvPicPr>
          <p:cNvPr id="5" name="Picture 2" descr="The Biggest Limitation of Pearson Correlation Which Many Overlook">
            <a:extLst>
              <a:ext uri="{FF2B5EF4-FFF2-40B4-BE49-F238E27FC236}">
                <a16:creationId xmlns:a16="http://schemas.microsoft.com/office/drawing/2014/main" id="{FB6089B6-A36E-FC25-7751-E7B1BA2A4D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70" t="399" b="87590"/>
          <a:stretch>
            <a:fillRect/>
          </a:stretch>
        </p:blipFill>
        <p:spPr bwMode="auto">
          <a:xfrm>
            <a:off x="291068" y="5964545"/>
            <a:ext cx="2329272" cy="61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529319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1072</Words>
  <Application>Microsoft Macintosh PowerPoint</Application>
  <DocSecurity>0</DocSecurity>
  <PresentationFormat>Widescreen</PresentationFormat>
  <Paragraphs>170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Aptos Mono</vt:lpstr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Ignacio Leiva</cp:lastModifiedBy>
  <cp:revision>4</cp:revision>
  <dcterms:created xsi:type="dcterms:W3CDTF">2026-05-15T06:27:40Z</dcterms:created>
  <dcterms:modified xsi:type="dcterms:W3CDTF">2026-05-15T11:12:31Z</dcterms:modified>
</cp:coreProperties>
</file>